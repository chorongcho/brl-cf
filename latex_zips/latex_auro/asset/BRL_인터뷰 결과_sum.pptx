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0" r:id="rId3"/>
    <p:sldId id="258" r:id="rId4"/>
    <p:sldId id="262" r:id="rId5"/>
    <p:sldId id="259" r:id="rId6"/>
    <p:sldId id="263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05"/>
    <p:restoredTop sz="94659"/>
  </p:normalViewPr>
  <p:slideViewPr>
    <p:cSldViewPr snapToGrid="0">
      <p:cViewPr varScale="1">
        <p:scale>
          <a:sx n="146" d="100"/>
          <a:sy n="146" d="100"/>
        </p:scale>
        <p:origin x="1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46CD03-F97E-4EFB-FD84-C3FBBE515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0AB0A4C-A4C2-FAB2-AFF8-9DECC2993B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2919DD-3702-9546-0FC5-1C32E8A5A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ECC29-F9B0-F94F-8B8F-4F0D3C8233C1}" type="datetimeFigureOut">
              <a:rPr kumimoji="1" lang="ko-KR" altLang="en-US" smtClean="0"/>
              <a:t>2026. 10. 16.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71055A-423C-AA4D-2878-1C0650993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3BF7A3-DA17-FE64-E2E4-135706626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B10A-B187-8F4F-9007-272D344755C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41569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D83EED-6F99-255B-7C32-E6DDDA63A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CBB51D-99D5-073B-4462-99F4AEA11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31A265-A5D0-49B7-E74F-6F9F56C77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ECC29-F9B0-F94F-8B8F-4F0D3C8233C1}" type="datetimeFigureOut">
              <a:rPr kumimoji="1" lang="ko-KR" altLang="en-US" smtClean="0"/>
              <a:t>2026. 10. 16.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4E778E-CBF5-AFDF-5E38-2DC8E5C71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04C4AD-F9B6-8994-00F9-F42C0F198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B10A-B187-8F4F-9007-272D344755C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53571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ADF447-DCC6-7F0B-8A94-8FCA63C4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3565A3-5BB2-7B0E-A2F6-C13CF8B51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904AB2-95D7-741A-5E7A-D65DEA81E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ECC29-F9B0-F94F-8B8F-4F0D3C8233C1}" type="datetimeFigureOut">
              <a:rPr kumimoji="1" lang="ko-KR" altLang="en-US" smtClean="0"/>
              <a:t>2026. 10. 16.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C8212F-76F6-C64F-EAC6-14FC7045F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29FCCF-9855-4C40-E4D2-8D6B65A73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B10A-B187-8F4F-9007-272D344755C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3222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9484C5-5E65-0A8D-C279-AA660D0EA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FC6E03-6621-6A2F-7561-BF294B5CB3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7D53DD-01CA-9F63-00C5-697EE09D1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F85409-4733-7E8E-0E09-CEBBAF25C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ECC29-F9B0-F94F-8B8F-4F0D3C8233C1}" type="datetimeFigureOut">
              <a:rPr kumimoji="1" lang="ko-KR" altLang="en-US" smtClean="0"/>
              <a:t>2026. 10. 16.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1C0C98-C743-8ABE-A64C-F07999222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D8C763-7945-544D-6AF8-23D61C9F7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B10A-B187-8F4F-9007-272D344755C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22767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693B81-9304-C4F7-4E99-16EFC5BA3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0F0FD7-FAA7-30A6-FA33-800CE5D0D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06060C-ED30-AF5E-A978-D54AD9B1B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09DC59C-BCFE-14CC-7FD9-9C64C74898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F0D403C-23A6-E882-BF82-6C12D8502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074E98-31FC-BA1B-E4A9-9BFB5C2CA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ECC29-F9B0-F94F-8B8F-4F0D3C8233C1}" type="datetimeFigureOut">
              <a:rPr kumimoji="1" lang="ko-KR" altLang="en-US" smtClean="0"/>
              <a:t>2026. 10. 16.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E26A90D-453C-BD44-2DEE-5310C553B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62F5213-2604-54F9-B092-98EC78CD0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B10A-B187-8F4F-9007-272D344755C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02352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B6ED3A-B4BE-E321-7DFC-BFDC95B41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49AC2C-390B-E69C-68E5-C639F176F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ECC29-F9B0-F94F-8B8F-4F0D3C8233C1}" type="datetimeFigureOut">
              <a:rPr kumimoji="1" lang="ko-KR" altLang="en-US" smtClean="0"/>
              <a:t>2026. 10. 16.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2453551-E6C8-F507-AA4C-5C74746D8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2A3780-9BDB-3864-A312-86318044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B10A-B187-8F4F-9007-272D344755C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4672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0026F33-DCBD-AF6B-9855-CAE3A7932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ECC29-F9B0-F94F-8B8F-4F0D3C8233C1}" type="datetimeFigureOut">
              <a:rPr kumimoji="1" lang="ko-KR" altLang="en-US" smtClean="0"/>
              <a:t>2026. 10. 16.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C795C5F-B6C7-2D1E-19DD-8CAB3DD4D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87224A-22D0-3570-7F42-AD20D33F9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B10A-B187-8F4F-9007-272D344755C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5180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0938B1-536D-41ED-436D-469F46536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6A4492-8EEA-4A14-E17E-057BBCC67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169FED-1C15-798E-A38C-52F158529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09912F-31E7-7C0F-8177-FFABB30EF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ECC29-F9B0-F94F-8B8F-4F0D3C8233C1}" type="datetimeFigureOut">
              <a:rPr kumimoji="1" lang="ko-KR" altLang="en-US" smtClean="0"/>
              <a:t>2026. 10. 16.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35B63E-9DDE-EA63-F912-99D32C7EB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BACA6A-C298-F704-BBE8-5A3E6D501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B10A-B187-8F4F-9007-272D344755C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65710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94555A-443B-F71F-1C5A-15F464904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BA37EAB-AE87-2FEA-2C72-9932E4CCB3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AA8ABC-5A6D-5FD2-743C-B37F31B8E4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2C0196-0BD2-EA5B-DFD9-381573E8D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ECC29-F9B0-F94F-8B8F-4F0D3C8233C1}" type="datetimeFigureOut">
              <a:rPr kumimoji="1" lang="ko-KR" altLang="en-US" smtClean="0"/>
              <a:t>2026. 10. 16.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68352F-4541-8A67-5787-944711BAC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385FC9-77EE-ACA1-DA8B-C1007F73B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B10A-B187-8F4F-9007-272D344755C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3470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2D6B4F-D793-EBA6-1558-171476485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57F9E7-7D87-6E14-562E-F6DCE4F58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5C5AF6-A019-A1F3-CA1F-CBD0EA844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ECC29-F9B0-F94F-8B8F-4F0D3C8233C1}" type="datetimeFigureOut">
              <a:rPr kumimoji="1" lang="ko-KR" altLang="en-US" smtClean="0"/>
              <a:t>2026. 10. 16.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E74AA8-3485-B3CA-C4C0-C3A92BBA1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F97890-C74C-52A8-ED86-795F2F5FB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B10A-B187-8F4F-9007-272D344755C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83479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9B984B3-7437-B713-DF9B-5B72A96C72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3B2F29-7BFF-70F3-32FB-E79B12C960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AA2DB4-AEF1-DDDF-2C12-4D365C454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ECC29-F9B0-F94F-8B8F-4F0D3C8233C1}" type="datetimeFigureOut">
              <a:rPr kumimoji="1" lang="ko-KR" altLang="en-US" smtClean="0"/>
              <a:t>2026. 10. 16.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9819C2-39CC-F623-F594-395C9B3A4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E075DA-C4A8-9E50-B383-BA83A2ECA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B10A-B187-8F4F-9007-272D344755C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20117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5E2ADBC-1152-1331-6DA7-9325AF9BB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D23E66-0B40-9840-C23D-56EF05C48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5B6526-9187-A878-BE98-0E52F1718E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0ECC29-F9B0-F94F-8B8F-4F0D3C8233C1}" type="datetimeFigureOut">
              <a:rPr kumimoji="1" lang="ko-KR" altLang="en-US" smtClean="0"/>
              <a:t>2026. 10. 16.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839103-9F4E-CD5E-270E-90082820D4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99A91F-E5BE-B0D3-BB1E-4E4192108F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4BB10A-B187-8F4F-9007-272D344755C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75881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3771A1-A48E-CB22-E73B-8AEEDF59078E}"/>
              </a:ext>
            </a:extLst>
          </p:cNvPr>
          <p:cNvSpPr txBox="1"/>
          <p:nvPr/>
        </p:nvSpPr>
        <p:spPr>
          <a:xfrm>
            <a:off x="1648046" y="3429000"/>
            <a:ext cx="307167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000" b="1" dirty="0">
                <a:latin typeface="+mn-ea"/>
              </a:rPr>
              <a:t>BRL </a:t>
            </a:r>
            <a:r>
              <a:rPr kumimoji="1" lang="ko-KR" altLang="en-US" sz="3000" b="1" dirty="0">
                <a:latin typeface="+mn-ea"/>
              </a:rPr>
              <a:t>인터뷰 결과</a:t>
            </a:r>
          </a:p>
        </p:txBody>
      </p:sp>
    </p:spTree>
    <p:extLst>
      <p:ext uri="{BB962C8B-B14F-4D97-AF65-F5344CB8AC3E}">
        <p14:creationId xmlns:p14="http://schemas.microsoft.com/office/powerpoint/2010/main" val="760905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DC6BE-E8D4-0935-9F90-8F58D2EA2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EDABD6-2A99-B1E8-1EB6-435912289CF1}"/>
              </a:ext>
            </a:extLst>
          </p:cNvPr>
          <p:cNvSpPr txBox="1"/>
          <p:nvPr/>
        </p:nvSpPr>
        <p:spPr>
          <a:xfrm>
            <a:off x="414671" y="404038"/>
            <a:ext cx="123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/>
              <a:t>Summary</a:t>
            </a:r>
            <a:endParaRPr kumimoji="1"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23F258-729E-FE45-F4E5-3970FAB772F4}"/>
              </a:ext>
            </a:extLst>
          </p:cNvPr>
          <p:cNvSpPr txBox="1"/>
          <p:nvPr/>
        </p:nvSpPr>
        <p:spPr>
          <a:xfrm>
            <a:off x="659221" y="893136"/>
            <a:ext cx="9324751" cy="4633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" altLang="ko-KR" sz="1400" b="1" dirty="0"/>
              <a:t>A</a:t>
            </a:r>
            <a:r>
              <a:rPr lang="en-US" altLang="ko-KR" sz="1400" b="1" dirty="0"/>
              <a:t>(Ours)</a:t>
            </a:r>
            <a:r>
              <a:rPr lang="en" altLang="ko-KR" sz="1400" b="1" dirty="0"/>
              <a:t> </a:t>
            </a:r>
            <a:r>
              <a:rPr lang="ko-KR" altLang="en-US" sz="1400" b="1" dirty="0"/>
              <a:t>시스템은 사용자가 판단해야 하는 범위를 좁혀 줌</a:t>
            </a:r>
            <a:endParaRPr lang="en-US" altLang="ko-KR" sz="1400" b="1" dirty="0"/>
          </a:p>
          <a:p>
            <a:pPr marL="742950" lvl="1" indent="-285750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" altLang="ko-KR" sz="1400" dirty="0"/>
              <a:t>P1–P4</a:t>
            </a:r>
            <a:r>
              <a:rPr lang="en-US" altLang="ko-KR" sz="1400" dirty="0"/>
              <a:t>: </a:t>
            </a:r>
            <a:r>
              <a:rPr lang="ko-KR" altLang="en-US" sz="1400" dirty="0"/>
              <a:t>상태를 확인하면 로봇이 후속 행동을 수행한다는 점을 편의성의 근거로 설명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" altLang="ko-KR" sz="1400" b="1" dirty="0"/>
              <a:t>B(</a:t>
            </a:r>
            <a:r>
              <a:rPr lang="en-US" altLang="ko-KR" sz="1400" b="1" dirty="0" err="1"/>
              <a:t>Knowno</a:t>
            </a:r>
            <a:r>
              <a:rPr lang="en-US" altLang="ko-KR" sz="1400" b="1" dirty="0"/>
              <a:t>) </a:t>
            </a:r>
            <a:r>
              <a:rPr lang="ko-KR" altLang="en-US" sz="1400" b="1" dirty="0"/>
              <a:t>시스템의 선택지는 행동의 실행 조건을 이해할 수 있어야 함</a:t>
            </a:r>
            <a:endParaRPr lang="en-US" altLang="ko-KR" sz="1400" b="1" dirty="0"/>
          </a:p>
          <a:p>
            <a:pPr marL="742950" lvl="1" indent="-285750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" altLang="ko-KR" sz="1400" dirty="0"/>
              <a:t>P1</a:t>
            </a:r>
            <a:r>
              <a:rPr lang="en-US" altLang="ko-KR" sz="1400" dirty="0"/>
              <a:t>, </a:t>
            </a:r>
            <a:r>
              <a:rPr lang="en" altLang="ko-KR" sz="1400" dirty="0"/>
              <a:t>P3</a:t>
            </a:r>
            <a:r>
              <a:rPr lang="en-US" altLang="ko-KR" sz="1400" dirty="0"/>
              <a:t>, </a:t>
            </a:r>
            <a:r>
              <a:rPr lang="en" altLang="ko-KR" sz="1400" dirty="0"/>
              <a:t>P4</a:t>
            </a:r>
            <a:r>
              <a:rPr lang="ko-KR" altLang="en-US" sz="1400" dirty="0"/>
              <a:t>는 복수 행동이나 실패된 경험에 대해 언급</a:t>
            </a:r>
            <a:endParaRPr lang="en-US" altLang="ko-KR" sz="1400" dirty="0"/>
          </a:p>
          <a:p>
            <a:pPr marL="742950" lvl="1" indent="-285750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" altLang="ko-KR" sz="1400" dirty="0"/>
              <a:t>P2</a:t>
            </a:r>
            <a:r>
              <a:rPr lang="ko-KR" altLang="en-US" sz="1400" dirty="0"/>
              <a:t>는 선택지가 모두 가능한 행동인지부터 불명확하다고 함</a:t>
            </a:r>
            <a:endParaRPr lang="en-US" altLang="ko-KR" sz="1400" dirty="0"/>
          </a:p>
          <a:p>
            <a:pPr marL="742950" lvl="1" indent="-285750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ko-KR" altLang="en-US" sz="1400" dirty="0"/>
              <a:t>공통 문제는 선택지가 제시되어도 현재 실행하는 것에 대한 판단이 모호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" altLang="ko-KR" sz="1400" b="1" dirty="0">
                <a:solidFill>
                  <a:srgbClr val="0000FF"/>
                </a:solidFill>
              </a:rPr>
              <a:t>A </a:t>
            </a:r>
            <a:r>
              <a:rPr lang="ko-KR" altLang="en-US" sz="1400" b="1" dirty="0">
                <a:solidFill>
                  <a:srgbClr val="0000FF"/>
                </a:solidFill>
              </a:rPr>
              <a:t>시스템의 </a:t>
            </a:r>
            <a:r>
              <a:rPr lang="en-US" altLang="ko-KR" sz="1400" b="1" dirty="0">
                <a:solidFill>
                  <a:srgbClr val="0000FF"/>
                </a:solidFill>
              </a:rPr>
              <a:t>performance</a:t>
            </a:r>
            <a:r>
              <a:rPr lang="ko-KR" altLang="en-US" sz="1400" b="1" dirty="0">
                <a:solidFill>
                  <a:srgbClr val="0000FF"/>
                </a:solidFill>
              </a:rPr>
              <a:t>가 </a:t>
            </a:r>
            <a:r>
              <a:rPr lang="en-US" altLang="ko-KR" sz="1400" b="1" dirty="0">
                <a:solidFill>
                  <a:srgbClr val="0000FF"/>
                </a:solidFill>
              </a:rPr>
              <a:t>B</a:t>
            </a:r>
            <a:r>
              <a:rPr lang="ko-KR" altLang="en-US" sz="1400" b="1" dirty="0">
                <a:solidFill>
                  <a:srgbClr val="0000FF"/>
                </a:solidFill>
              </a:rPr>
              <a:t> 시스템과 비교하여 높게 나타남</a:t>
            </a:r>
            <a:endParaRPr lang="en-US" altLang="ko-KR" sz="1400" b="1" dirty="0">
              <a:solidFill>
                <a:srgbClr val="0000FF"/>
              </a:solidFill>
            </a:endParaRPr>
          </a:p>
          <a:p>
            <a:pPr marL="742950" lvl="1" indent="-285750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ko-KR" altLang="en-US" sz="1400" b="1" dirty="0"/>
              <a:t>그러나 </a:t>
            </a:r>
            <a:r>
              <a:rPr lang="en" altLang="ko-KR" sz="1400" b="1" dirty="0"/>
              <a:t>performance</a:t>
            </a:r>
            <a:r>
              <a:rPr lang="ko-KR" altLang="en-US" sz="1400" b="1" dirty="0"/>
              <a:t>가 높다는 것에 대한 편의성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효율성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성공이 세부적으로 분류</a:t>
            </a:r>
            <a:endParaRPr lang="en-US" altLang="ko-KR" sz="1400" b="1" dirty="0"/>
          </a:p>
          <a:p>
            <a:pPr marL="1200150" lvl="2" indent="-285750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" altLang="ko-KR" sz="1400" dirty="0"/>
              <a:t>P1·P2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  <a:r>
              <a:rPr lang="en" altLang="ko-KR" sz="1400" dirty="0"/>
              <a:t>A</a:t>
            </a:r>
            <a:r>
              <a:rPr lang="ko-KR" altLang="en-US" sz="1400" dirty="0"/>
              <a:t>의 지각된 수행</a:t>
            </a:r>
            <a:r>
              <a:rPr lang="en-US" altLang="ko-KR" sz="1400" dirty="0"/>
              <a:t>(perceived performance)</a:t>
            </a:r>
            <a:r>
              <a:rPr lang="ko-KR" altLang="en-US" sz="1400" dirty="0"/>
              <a:t>가 우위에 있다고 발화 </a:t>
            </a:r>
            <a:endParaRPr lang="en-US" altLang="ko-KR" sz="1400" dirty="0"/>
          </a:p>
          <a:p>
            <a:pPr marL="1657350" lvl="3" indent="-285750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" altLang="ko-KR" sz="1400" dirty="0"/>
              <a:t>P3</a:t>
            </a:r>
            <a:r>
              <a:rPr lang="ko-KR" altLang="en-US" sz="1400" dirty="0"/>
              <a:t>은 주로 편의성으로 의미를 한정</a:t>
            </a:r>
            <a:endParaRPr lang="en-US" altLang="ko-KR" sz="1400" dirty="0"/>
          </a:p>
          <a:p>
            <a:pPr marL="1657350" lvl="3" indent="-285750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" altLang="ko-KR" sz="1400" dirty="0"/>
              <a:t>P4</a:t>
            </a:r>
            <a:r>
              <a:rPr lang="ko-KR" altLang="en-US" sz="1400" dirty="0"/>
              <a:t>는 투입 노력 대비 성과를 강조</a:t>
            </a:r>
            <a:endParaRPr lang="en-US" altLang="ko-KR" sz="1400" dirty="0"/>
          </a:p>
          <a:p>
            <a:pPr marL="1657350" lvl="3" indent="-285750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" altLang="ko-KR" sz="1400" dirty="0"/>
              <a:t>P5</a:t>
            </a:r>
            <a:r>
              <a:rPr lang="ko-KR" altLang="en-US" sz="1400" dirty="0"/>
              <a:t>는 </a:t>
            </a:r>
            <a:r>
              <a:rPr lang="en" altLang="ko-KR" sz="1400" dirty="0"/>
              <a:t>B</a:t>
            </a:r>
            <a:r>
              <a:rPr lang="ko-KR" altLang="en-US" sz="1400" dirty="0"/>
              <a:t>의 편의성을 높게 평가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52731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06D5B-C9DA-F066-9354-82EEF0D50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4EE08A-7EF6-BCA7-DC4B-68817CEE3F54}"/>
              </a:ext>
            </a:extLst>
          </p:cNvPr>
          <p:cNvSpPr txBox="1"/>
          <p:nvPr/>
        </p:nvSpPr>
        <p:spPr>
          <a:xfrm>
            <a:off x="425302" y="404037"/>
            <a:ext cx="14221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sz="1400" b="1" dirty="0">
                <a:latin typeface="+mj-ea"/>
                <a:ea typeface="+mj-ea"/>
              </a:rPr>
              <a:t>P1</a:t>
            </a:r>
            <a:r>
              <a:rPr lang="ko-KR" altLang="en-US" sz="1400" b="1" dirty="0">
                <a:latin typeface="+mj-ea"/>
                <a:ea typeface="+mj-ea"/>
              </a:rPr>
              <a:t> 주제별 분석</a:t>
            </a:r>
            <a:endParaRPr kumimoji="1" lang="ko-KR" altLang="en-US" sz="1400" b="1" dirty="0">
              <a:latin typeface="+mj-ea"/>
              <a:ea typeface="+mj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4CA0D37-C245-2522-F6D7-97E8B9595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053279"/>
              </p:ext>
            </p:extLst>
          </p:nvPr>
        </p:nvGraphicFramePr>
        <p:xfrm>
          <a:off x="425302" y="1096290"/>
          <a:ext cx="11197608" cy="442633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00940">
                  <a:extLst>
                    <a:ext uri="{9D8B030D-6E8A-4147-A177-3AD203B41FA5}">
                      <a16:colId xmlns:a16="http://schemas.microsoft.com/office/drawing/2014/main" val="3362588610"/>
                    </a:ext>
                  </a:extLst>
                </a:gridCol>
                <a:gridCol w="3397864">
                  <a:extLst>
                    <a:ext uri="{9D8B030D-6E8A-4147-A177-3AD203B41FA5}">
                      <a16:colId xmlns:a16="http://schemas.microsoft.com/office/drawing/2014/main" val="641337673"/>
                    </a:ext>
                  </a:extLst>
                </a:gridCol>
                <a:gridCol w="4013029">
                  <a:extLst>
                    <a:ext uri="{9D8B030D-6E8A-4147-A177-3AD203B41FA5}">
                      <a16:colId xmlns:a16="http://schemas.microsoft.com/office/drawing/2014/main" val="14377056"/>
                    </a:ext>
                  </a:extLst>
                </a:gridCol>
                <a:gridCol w="1585775">
                  <a:extLst>
                    <a:ext uri="{9D8B030D-6E8A-4147-A177-3AD203B41FA5}">
                      <a16:colId xmlns:a16="http://schemas.microsoft.com/office/drawing/2014/main" val="2720660445"/>
                    </a:ext>
                  </a:extLst>
                </a:gridCol>
              </a:tblGrid>
              <a:tr h="143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질문</a:t>
                      </a:r>
                    </a:p>
                  </a:txBody>
                  <a:tcPr marL="35961" marR="35961" marT="17981" marB="1798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주요 응답</a:t>
                      </a:r>
                    </a:p>
                  </a:txBody>
                  <a:tcPr marL="35961" marR="35961" marT="17981" marB="1798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분석 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 의미</a:t>
                      </a:r>
                    </a:p>
                  </a:txBody>
                  <a:tcPr marL="35961" marR="35961" marT="17981" marB="1798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b="1" dirty="0"/>
                    </a:p>
                  </a:txBody>
                  <a:tcPr marL="35961" marR="35961" marT="17981" marB="1798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3851138"/>
                  </a:ext>
                </a:extLst>
              </a:tr>
              <a:tr h="683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Q1. </a:t>
                      </a:r>
                      <a:r>
                        <a:rPr lang="ko-KR" altLang="en-US" sz="1200" b="0" dirty="0"/>
                        <a:t>가장 기억에 남는 차이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dirty="0"/>
                        <a:t>B</a:t>
                      </a:r>
                      <a:r>
                        <a:rPr lang="ko-KR" altLang="en-US" sz="1200" dirty="0"/>
                        <a:t>에서 여러 행동을 포함한다고 이해한 선택지를 고르면 오류가 반복되었다고 설명함</a:t>
                      </a:r>
                      <a:r>
                        <a:rPr lang="en-US" altLang="ko-KR" sz="1200" dirty="0"/>
                        <a:t>. </a:t>
                      </a:r>
                      <a:r>
                        <a:rPr lang="en" sz="1200" dirty="0"/>
                        <a:t>A</a:t>
                      </a:r>
                      <a:r>
                        <a:rPr lang="ko-KR" altLang="en-US" sz="1200" dirty="0"/>
                        <a:t>는 응답하기 편했다고 평가함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>
                          <a:solidFill>
                            <a:srgbClr val="0000FF"/>
                          </a:solidFill>
                        </a:rPr>
                        <a:t>처음부터 언급한 차이는 </a:t>
                      </a:r>
                      <a:r>
                        <a:rPr lang="en" sz="1200" b="1" dirty="0">
                          <a:solidFill>
                            <a:srgbClr val="0000FF"/>
                          </a:solidFill>
                        </a:rPr>
                        <a:t>B</a:t>
                      </a:r>
                      <a:r>
                        <a:rPr lang="ko-KR" altLang="en-US" sz="1200" b="1" dirty="0">
                          <a:solidFill>
                            <a:srgbClr val="0000FF"/>
                          </a:solidFill>
                        </a:rPr>
                        <a:t>의 실행 오류</a:t>
                      </a:r>
                      <a:r>
                        <a:rPr lang="ko-KR" altLang="en-US" sz="1200" dirty="0">
                          <a:solidFill>
                            <a:srgbClr val="0000FF"/>
                          </a:solidFill>
                        </a:rPr>
                        <a:t>였음</a:t>
                      </a:r>
                      <a:r>
                        <a:rPr lang="en-US" altLang="ko-KR" sz="1200" dirty="0">
                          <a:solidFill>
                            <a:srgbClr val="0000FF"/>
                          </a:solidFill>
                        </a:rPr>
                        <a:t>. </a:t>
                      </a:r>
                      <a:r>
                        <a:rPr lang="ko-KR" altLang="en-US" sz="1200" dirty="0"/>
                        <a:t>전체 평가에서 중요한 경험으로 볼 수 있음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00:19–01:10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3893581"/>
                  </a:ext>
                </a:extLst>
              </a:tr>
              <a:tr h="79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Q2. </a:t>
                      </a:r>
                      <a:r>
                        <a:rPr lang="ko-KR" altLang="en-US" sz="1200" b="0" dirty="0"/>
                        <a:t>답을 고르는 과정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dirty="0"/>
                        <a:t>A</a:t>
                      </a:r>
                      <a:r>
                        <a:rPr lang="ko-KR" altLang="en-US" sz="1200" dirty="0"/>
                        <a:t>에서는 화면을 보고 맞는지 판단함</a:t>
                      </a:r>
                      <a:r>
                        <a:rPr lang="en-US" altLang="ko-KR" sz="1200" dirty="0"/>
                        <a:t>. </a:t>
                      </a:r>
                      <a:r>
                        <a:rPr lang="en" sz="1200" dirty="0"/>
                        <a:t>B</a:t>
                      </a:r>
                      <a:r>
                        <a:rPr lang="ko-KR" altLang="en-US" sz="1200" dirty="0"/>
                        <a:t>에서는 어떤 행동이 더 효율적인지 생각하고 선택함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dirty="0"/>
                        <a:t>A</a:t>
                      </a:r>
                      <a:r>
                        <a:rPr lang="ko-KR" altLang="en-US" sz="1200" dirty="0"/>
                        <a:t>는 </a:t>
                      </a:r>
                      <a:r>
                        <a:rPr lang="ko-KR" altLang="en-US" sz="1200" b="1" dirty="0"/>
                        <a:t>상태 확인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" sz="1200" dirty="0"/>
                        <a:t>B</a:t>
                      </a:r>
                      <a:r>
                        <a:rPr lang="ko-KR" altLang="en-US" sz="1200" dirty="0"/>
                        <a:t>는 </a:t>
                      </a:r>
                      <a:r>
                        <a:rPr lang="ko-KR" altLang="en-US" sz="1200" b="1" dirty="0"/>
                        <a:t>행동의 효율성 비교</a:t>
                      </a:r>
                      <a:r>
                        <a:rPr lang="ko-KR" altLang="en-US" sz="1200" dirty="0"/>
                        <a:t>를 요구한 것으로 경험됨</a:t>
                      </a:r>
                      <a:r>
                        <a:rPr lang="en-US" altLang="ko-KR" sz="1200" dirty="0"/>
                        <a:t>. </a:t>
                      </a:r>
                      <a:r>
                        <a:rPr lang="en" sz="1200" dirty="0"/>
                        <a:t>A</a:t>
                      </a:r>
                      <a:r>
                        <a:rPr lang="ko-KR" altLang="en-US" sz="1200" dirty="0"/>
                        <a:t>의 편의성을 뒷받침하지만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" sz="1200" dirty="0"/>
                        <a:t>B</a:t>
                      </a:r>
                      <a:r>
                        <a:rPr lang="ko-KR" altLang="en-US" sz="1200" dirty="0"/>
                        <a:t>가 전반적으로 어려웠다고 단정할 수는 없음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02:19, 04:58–05:34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9540985"/>
                  </a:ext>
                </a:extLst>
              </a:tr>
              <a:tr h="683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Q3. </a:t>
                      </a:r>
                      <a:r>
                        <a:rPr lang="ko-KR" altLang="en-US" sz="1200" b="0" dirty="0"/>
                        <a:t>화면 정보와 선택지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큰 화면을 중심으로 판단했고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작은 화면의 활용은 적었음</a:t>
                      </a:r>
                      <a:r>
                        <a:rPr lang="en-US" altLang="ko-KR" sz="1200" dirty="0"/>
                        <a:t>. </a:t>
                      </a:r>
                      <a:r>
                        <a:rPr lang="ko-KR" altLang="en-US" sz="1200" dirty="0"/>
                        <a:t>문구는 대체로 직관적이라고 응답함</a:t>
                      </a:r>
                      <a:r>
                        <a:rPr lang="en-US" altLang="ko-KR" sz="1200" dirty="0"/>
                        <a:t>. </a:t>
                      </a:r>
                      <a:r>
                        <a:rPr lang="ko-KR" altLang="en-US" sz="1200" dirty="0"/>
                        <a:t>가려진 물체는 확인하기 어려웠음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선택지의 문장 이해와 실제 실행 가능성은 별개였음</a:t>
                      </a:r>
                      <a:r>
                        <a:rPr lang="en-US" altLang="ko-KR" sz="1200" dirty="0"/>
                        <a:t>. </a:t>
                      </a:r>
                      <a:r>
                        <a:rPr lang="ko-KR" altLang="en-US" sz="1200" b="1" dirty="0"/>
                        <a:t>문구는 이해했지만</a:t>
                      </a:r>
                      <a:r>
                        <a:rPr lang="en-US" altLang="ko-KR" sz="1200" b="1" dirty="0"/>
                        <a:t>, </a:t>
                      </a:r>
                      <a:r>
                        <a:rPr lang="ko-KR" altLang="en-US" sz="1200" b="1" dirty="0"/>
                        <a:t>선택한 행동이 수행되지 않는 문제</a:t>
                      </a:r>
                      <a:r>
                        <a:rPr lang="ko-KR" altLang="en-US" sz="1200" dirty="0"/>
                        <a:t>를 경험함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03:09–04:34, 07:17–08:06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979296"/>
                  </a:ext>
                </a:extLst>
              </a:tr>
              <a:tr h="683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Q4. </a:t>
                      </a:r>
                      <a:r>
                        <a:rPr lang="ko-KR" altLang="en-US" sz="1200" b="0" dirty="0"/>
                        <a:t>질문 시점과 반복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질문 시점의 뚜렷한 차이는 느끼지 못했지만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" sz="1200" dirty="0"/>
                        <a:t>A</a:t>
                      </a:r>
                      <a:r>
                        <a:rPr lang="ko-KR" altLang="en-US" sz="1200" dirty="0"/>
                        <a:t>에서 이미 답한 내용을 다시 묻는 경우가 더 많았다고 회상함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dirty="0"/>
                        <a:t>A</a:t>
                      </a:r>
                      <a:r>
                        <a:rPr lang="ko-KR" altLang="en-US" sz="1200" dirty="0" err="1"/>
                        <a:t>에</a:t>
                      </a:r>
                      <a:r>
                        <a:rPr lang="ko-KR" altLang="en-US" sz="1200" dirty="0"/>
                        <a:t> 대한 주요 부정적 평가임</a:t>
                      </a:r>
                      <a:r>
                        <a:rPr lang="en-US" altLang="ko-KR" sz="1200" dirty="0"/>
                        <a:t>. </a:t>
                      </a:r>
                      <a:r>
                        <a:rPr lang="ko-KR" altLang="en-US" sz="1200" dirty="0"/>
                        <a:t>다만 반복 질문 때문에 상황을 다시 파악해야 했다는 경험은 부인함</a:t>
                      </a:r>
                      <a:r>
                        <a:rPr lang="en-US" altLang="ko-KR" sz="1200" dirty="0"/>
                        <a:t>. </a:t>
                      </a:r>
                      <a:r>
                        <a:rPr lang="ko-KR" altLang="en-US" sz="1200" b="1" dirty="0"/>
                        <a:t>반복감과 부담을 구분</a:t>
                      </a:r>
                      <a:r>
                        <a:rPr lang="ko-KR" altLang="en-US" sz="1200" dirty="0"/>
                        <a:t>해야 함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08:44–10:19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9545346"/>
                  </a:ext>
                </a:extLst>
              </a:tr>
              <a:tr h="683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Q5. </a:t>
                      </a:r>
                      <a:r>
                        <a:rPr lang="ko-KR" altLang="en-US" sz="1200" b="0" dirty="0"/>
                        <a:t>수고와 작업 진행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dirty="0"/>
                        <a:t>A</a:t>
                      </a:r>
                      <a:r>
                        <a:rPr lang="ko-KR" altLang="en-US" sz="1200" dirty="0"/>
                        <a:t>가 과업을 더 잘 수행했다고 평가함</a:t>
                      </a:r>
                      <a:r>
                        <a:rPr lang="en-US" altLang="ko-KR" sz="1200" dirty="0"/>
                        <a:t>. </a:t>
                      </a:r>
                      <a:r>
                        <a:rPr lang="en" sz="1200" dirty="0"/>
                        <a:t>B</a:t>
                      </a:r>
                      <a:r>
                        <a:rPr lang="ko-KR" altLang="en-US" sz="1200" dirty="0"/>
                        <a:t>는 오류와 재시행으로 수고가 더 들고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전체 시간이 길게 느껴졌다고 설명함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dirty="0"/>
                        <a:t>A</a:t>
                      </a:r>
                      <a:r>
                        <a:rPr lang="ko-KR" altLang="en-US" sz="1200" dirty="0"/>
                        <a:t>의 </a:t>
                      </a:r>
                      <a:r>
                        <a:rPr lang="ko-KR" altLang="en-US" sz="1200" b="1" dirty="0"/>
                        <a:t>지각된 수행 성능</a:t>
                      </a:r>
                      <a:r>
                        <a:rPr lang="en-US" altLang="ko-KR" sz="1200" b="1" dirty="0"/>
                        <a:t>·</a:t>
                      </a:r>
                      <a:r>
                        <a:rPr lang="ko-KR" altLang="en-US" sz="1200" b="1" dirty="0"/>
                        <a:t>효율성</a:t>
                      </a:r>
                      <a:r>
                        <a:rPr lang="ko-KR" altLang="en-US" sz="1200" dirty="0"/>
                        <a:t>을 지지함</a:t>
                      </a:r>
                      <a:r>
                        <a:rPr lang="en-US" altLang="ko-KR" sz="1200" dirty="0"/>
                        <a:t>. </a:t>
                      </a:r>
                      <a:r>
                        <a:rPr lang="en" sz="1200" dirty="0"/>
                        <a:t>B</a:t>
                      </a:r>
                      <a:r>
                        <a:rPr lang="ko-KR" altLang="en-US" sz="1200" dirty="0"/>
                        <a:t>의 부담은 행동 선택 자체뿐 아니라 </a:t>
                      </a:r>
                      <a:r>
                        <a:rPr lang="ko-KR" altLang="en-US" sz="1200" b="1" dirty="0"/>
                        <a:t>선택 이후 실패와 복구</a:t>
                      </a:r>
                      <a:r>
                        <a:rPr lang="ko-KR" altLang="en-US" sz="1200" dirty="0"/>
                        <a:t>에 연결되어 있음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10:54–14:24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0281949"/>
                  </a:ext>
                </a:extLst>
              </a:tr>
              <a:tr h="683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Q6. </a:t>
                      </a:r>
                      <a:r>
                        <a:rPr lang="ko-KR" altLang="en-US" sz="1200" b="0" dirty="0"/>
                        <a:t>재사용 선호와 개선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분리수거와 토마토 모두 </a:t>
                      </a:r>
                      <a:r>
                        <a:rPr lang="en" sz="1200" dirty="0"/>
                        <a:t>A</a:t>
                      </a:r>
                      <a:r>
                        <a:rPr lang="ko-KR" altLang="en-US" sz="1200" dirty="0" err="1"/>
                        <a:t>를</a:t>
                      </a:r>
                      <a:r>
                        <a:rPr lang="ko-KR" altLang="en-US" sz="1200" dirty="0"/>
                        <a:t> 선택함</a:t>
                      </a:r>
                      <a:r>
                        <a:rPr lang="en-US" altLang="ko-KR" sz="1200" dirty="0"/>
                        <a:t>. </a:t>
                      </a:r>
                      <a:r>
                        <a:rPr lang="ko-KR" altLang="en-US" sz="1200" dirty="0"/>
                        <a:t>다만 시간과 오류 수준이 같고 과업이 복잡하다면 </a:t>
                      </a:r>
                      <a:r>
                        <a:rPr lang="en" sz="1200" dirty="0"/>
                        <a:t>B</a:t>
                      </a:r>
                      <a:r>
                        <a:rPr lang="ko-KR" altLang="en-US" sz="1200" dirty="0"/>
                        <a:t>가 유리할 수 있다고 설명함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/>
                        <a:t>현재 과업</a:t>
                      </a:r>
                      <a:r>
                        <a:rPr lang="en-US" altLang="ko-KR" sz="1200" b="1"/>
                        <a:t>·</a:t>
                      </a:r>
                      <a:r>
                        <a:rPr lang="ko-KR" altLang="en-US" sz="1200" b="1"/>
                        <a:t>구현에서는 </a:t>
                      </a:r>
                      <a:r>
                        <a:rPr lang="en" sz="1200" b="1"/>
                        <a:t>A </a:t>
                      </a:r>
                      <a:r>
                        <a:rPr lang="ko-KR" altLang="en-US" sz="1200" b="1"/>
                        <a:t>선호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복잡한 과업에서는 직접 행동을 선택하는 </a:t>
                      </a:r>
                      <a:r>
                        <a:rPr lang="en" sz="1200"/>
                        <a:t>B</a:t>
                      </a:r>
                      <a:r>
                        <a:rPr lang="ko-KR" altLang="en-US" sz="1200"/>
                        <a:t>의 잠재적 가치를 인정한 조건부 평가임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15:28–19:44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7267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9353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C4AB9-514D-FBC9-13B2-247F265A1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0F0728-6E45-7A14-F41D-0FF522673A23}"/>
              </a:ext>
            </a:extLst>
          </p:cNvPr>
          <p:cNvSpPr txBox="1"/>
          <p:nvPr/>
        </p:nvSpPr>
        <p:spPr>
          <a:xfrm>
            <a:off x="425302" y="404037"/>
            <a:ext cx="14221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sz="1400" b="1" dirty="0">
                <a:latin typeface="+mj-ea"/>
                <a:ea typeface="+mj-ea"/>
              </a:rPr>
              <a:t>P</a:t>
            </a:r>
            <a:r>
              <a:rPr lang="en-US" altLang="ko-KR" sz="1400" b="1" dirty="0">
                <a:latin typeface="+mj-ea"/>
                <a:ea typeface="+mj-ea"/>
              </a:rPr>
              <a:t>2</a:t>
            </a:r>
            <a:r>
              <a:rPr lang="ko-KR" altLang="en-US" sz="1400" b="1" dirty="0">
                <a:latin typeface="+mj-ea"/>
                <a:ea typeface="+mj-ea"/>
              </a:rPr>
              <a:t> 주제별 분석</a:t>
            </a:r>
            <a:endParaRPr kumimoji="1" lang="ko-KR" altLang="en-US" sz="1400" b="1" dirty="0">
              <a:latin typeface="+mj-ea"/>
              <a:ea typeface="+mj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21BD505-375E-5A33-8BCD-10784F32D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661028"/>
              </p:ext>
            </p:extLst>
          </p:nvPr>
        </p:nvGraphicFramePr>
        <p:xfrm>
          <a:off x="425302" y="1096290"/>
          <a:ext cx="11197608" cy="457862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00940">
                  <a:extLst>
                    <a:ext uri="{9D8B030D-6E8A-4147-A177-3AD203B41FA5}">
                      <a16:colId xmlns:a16="http://schemas.microsoft.com/office/drawing/2014/main" val="3362588610"/>
                    </a:ext>
                  </a:extLst>
                </a:gridCol>
                <a:gridCol w="3397864">
                  <a:extLst>
                    <a:ext uri="{9D8B030D-6E8A-4147-A177-3AD203B41FA5}">
                      <a16:colId xmlns:a16="http://schemas.microsoft.com/office/drawing/2014/main" val="641337673"/>
                    </a:ext>
                  </a:extLst>
                </a:gridCol>
                <a:gridCol w="4013029">
                  <a:extLst>
                    <a:ext uri="{9D8B030D-6E8A-4147-A177-3AD203B41FA5}">
                      <a16:colId xmlns:a16="http://schemas.microsoft.com/office/drawing/2014/main" val="14377056"/>
                    </a:ext>
                  </a:extLst>
                </a:gridCol>
                <a:gridCol w="1585775">
                  <a:extLst>
                    <a:ext uri="{9D8B030D-6E8A-4147-A177-3AD203B41FA5}">
                      <a16:colId xmlns:a16="http://schemas.microsoft.com/office/drawing/2014/main" val="2720660445"/>
                    </a:ext>
                  </a:extLst>
                </a:gridCol>
              </a:tblGrid>
              <a:tr h="143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질문</a:t>
                      </a:r>
                    </a:p>
                  </a:txBody>
                  <a:tcPr marL="35961" marR="35961" marT="17981" marB="1798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주요 응답</a:t>
                      </a:r>
                    </a:p>
                  </a:txBody>
                  <a:tcPr marL="35961" marR="35961" marT="17981" marB="1798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분석 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 의미</a:t>
                      </a:r>
                    </a:p>
                  </a:txBody>
                  <a:tcPr marL="35961" marR="35961" marT="17981" marB="1798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b="1" dirty="0"/>
                    </a:p>
                  </a:txBody>
                  <a:tcPr marL="35961" marR="35961" marT="17981" marB="1798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3851138"/>
                  </a:ext>
                </a:extLst>
              </a:tr>
              <a:tr h="683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Q1. </a:t>
                      </a:r>
                      <a:r>
                        <a:rPr lang="ko-KR" altLang="en-US" sz="1200" b="0" dirty="0"/>
                        <a:t>가장 기억에 남는 차이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dirty="0"/>
                        <a:t>A</a:t>
                      </a:r>
                      <a:r>
                        <a:rPr lang="ko-KR" altLang="en-US" sz="1200" dirty="0"/>
                        <a:t>는 로봇이 정한 진행을 확인해 주는 느낌이고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" sz="1200" dirty="0"/>
                        <a:t>B</a:t>
                      </a:r>
                      <a:r>
                        <a:rPr lang="ko-KR" altLang="en-US" sz="1200" dirty="0"/>
                        <a:t>는 사용자가 다음 단계를 선택하는 느낌이라고 설명함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27893" marR="27893" marT="13947" marB="13947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가장 먼저 언급한 차이는 </a:t>
                      </a:r>
                      <a:r>
                        <a:rPr lang="ko-KR" altLang="en-US" sz="1200" b="1" dirty="0"/>
                        <a:t>사용자의 역할과 선택권</a:t>
                      </a:r>
                      <a:r>
                        <a:rPr lang="ko-KR" altLang="en-US" sz="1200" dirty="0"/>
                        <a:t>임</a:t>
                      </a:r>
                      <a:r>
                        <a:rPr lang="en-US" altLang="ko-KR" sz="1200" dirty="0"/>
                        <a:t>. </a:t>
                      </a:r>
                      <a:r>
                        <a:rPr lang="en" sz="1200" dirty="0"/>
                        <a:t>A</a:t>
                      </a:r>
                      <a:r>
                        <a:rPr lang="ko-KR" altLang="en-US" sz="1200" dirty="0"/>
                        <a:t>는 확인자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" sz="1200" dirty="0"/>
                        <a:t>B</a:t>
                      </a:r>
                      <a:r>
                        <a:rPr lang="ko-KR" altLang="en-US" sz="1200" dirty="0"/>
                        <a:t>는 행동 결정자로 경험됨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27893" marR="27893" marT="13947" marB="13947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00:23–04:46</a:t>
                      </a:r>
                    </a:p>
                  </a:txBody>
                  <a:tcPr marL="27893" marR="27893" marT="13947" marB="13947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3893581"/>
                  </a:ext>
                </a:extLst>
              </a:tr>
              <a:tr h="79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Q2. </a:t>
                      </a:r>
                      <a:r>
                        <a:rPr lang="ko-KR" altLang="en-US" sz="1200" b="0" dirty="0"/>
                        <a:t>답을 고르는 과정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dirty="0"/>
                        <a:t>A</a:t>
                      </a:r>
                      <a:r>
                        <a:rPr lang="ko-KR" altLang="en-US" sz="1200" dirty="0"/>
                        <a:t>는 특정 물체에 집중해 맞는지 확인함</a:t>
                      </a:r>
                      <a:r>
                        <a:rPr lang="en-US" altLang="ko-KR" sz="1200" dirty="0"/>
                        <a:t>. </a:t>
                      </a:r>
                      <a:r>
                        <a:rPr lang="en" sz="1200" dirty="0"/>
                        <a:t>B</a:t>
                      </a:r>
                      <a:r>
                        <a:rPr lang="ko-KR" altLang="en-US" sz="1200" dirty="0"/>
                        <a:t>는 전체 환경과 선택지를 번갈아 보며 로봇이 수행할 수 있는 행동을 생각함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27893" marR="27893" marT="13947" marB="1394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dirty="0">
                          <a:solidFill>
                            <a:srgbClr val="0000FF"/>
                          </a:solidFill>
                        </a:rPr>
                        <a:t>A</a:t>
                      </a:r>
                      <a:r>
                        <a:rPr lang="ko-KR" altLang="en-US" sz="1200" dirty="0">
                          <a:solidFill>
                            <a:srgbClr val="0000FF"/>
                          </a:solidFill>
                        </a:rPr>
                        <a:t>는 </a:t>
                      </a:r>
                      <a:r>
                        <a:rPr lang="ko-KR" altLang="en-US" sz="1200" b="1" dirty="0">
                          <a:solidFill>
                            <a:srgbClr val="0000FF"/>
                          </a:solidFill>
                        </a:rPr>
                        <a:t>판단 대상과 범위를 좁혀 주는 방식</a:t>
                      </a:r>
                      <a:r>
                        <a:rPr lang="ko-KR" altLang="en-US" sz="1200" dirty="0">
                          <a:solidFill>
                            <a:srgbClr val="0000FF"/>
                          </a:solidFill>
                        </a:rPr>
                        <a:t>으로 경험됨</a:t>
                      </a:r>
                      <a:r>
                        <a:rPr lang="en-US" altLang="ko-KR" sz="1200" dirty="0">
                          <a:solidFill>
                            <a:srgbClr val="0000FF"/>
                          </a:solidFill>
                        </a:rPr>
                        <a:t>. </a:t>
                      </a:r>
                      <a:r>
                        <a:rPr lang="en" sz="1200" dirty="0"/>
                        <a:t>B</a:t>
                      </a:r>
                      <a:r>
                        <a:rPr lang="ko-KR" altLang="en-US" sz="1200" dirty="0"/>
                        <a:t>에서는 환경 탐색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선택지 읽기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실행 가능성 판단이 추가됨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27893" marR="27893" marT="13947" marB="1394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05:49, 10:12–10:56</a:t>
                      </a:r>
                    </a:p>
                  </a:txBody>
                  <a:tcPr marL="27893" marR="27893" marT="13947" marB="1394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9540985"/>
                  </a:ext>
                </a:extLst>
              </a:tr>
              <a:tr h="683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Q3. </a:t>
                      </a:r>
                      <a:r>
                        <a:rPr lang="ko-KR" altLang="en-US" sz="1200" b="0" dirty="0"/>
                        <a:t>화면 정보와 선택지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/>
                        <a:t>B</a:t>
                      </a:r>
                      <a:r>
                        <a:rPr lang="ko-KR" altLang="en-US" sz="1200"/>
                        <a:t>의 선택지가 모두 가능한 행동인지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가능한 하나를 찾아야 하는지 불분명했음</a:t>
                      </a:r>
                      <a:r>
                        <a:rPr lang="en-US" altLang="ko-KR" sz="1200"/>
                        <a:t>. </a:t>
                      </a:r>
                      <a:r>
                        <a:rPr lang="ko-KR" altLang="en-US" sz="1200"/>
                        <a:t>원하는 행동이 없어 차선을 고른 경우도 있었음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 marL="27893" marR="27893" marT="13947" marB="1394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단순히 선택지 수가 </a:t>
                      </a:r>
                      <a:r>
                        <a:rPr lang="ko-KR" altLang="en-US" sz="1200" dirty="0" err="1"/>
                        <a:t>많아서가</a:t>
                      </a:r>
                      <a:r>
                        <a:rPr lang="ko-KR" altLang="en-US" sz="1200" dirty="0"/>
                        <a:t> 아니라 </a:t>
                      </a:r>
                      <a:r>
                        <a:rPr lang="ko-KR" altLang="en-US" sz="1200" b="1" dirty="0"/>
                        <a:t>선택지의 의미</a:t>
                      </a:r>
                      <a:r>
                        <a:rPr lang="en-US" altLang="ko-KR" sz="1200" b="1" dirty="0"/>
                        <a:t>·</a:t>
                      </a:r>
                      <a:r>
                        <a:rPr lang="ko-KR" altLang="en-US" sz="1200" b="1" dirty="0"/>
                        <a:t>실행 가능성</a:t>
                      </a:r>
                      <a:r>
                        <a:rPr lang="en-US" altLang="ko-KR" sz="1200" b="1" dirty="0"/>
                        <a:t>·</a:t>
                      </a:r>
                      <a:r>
                        <a:rPr lang="ko-KR" altLang="en-US" sz="1200" b="1" dirty="0"/>
                        <a:t>충분성</a:t>
                      </a:r>
                      <a:r>
                        <a:rPr lang="ko-KR" altLang="en-US" sz="1200" dirty="0"/>
                        <a:t>이 불명확했던 문제임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27893" marR="27893" marT="13947" marB="1394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06:42, 31:15–31:39</a:t>
                      </a:r>
                    </a:p>
                  </a:txBody>
                  <a:tcPr marL="27893" marR="27893" marT="13947" marB="1394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979296"/>
                  </a:ext>
                </a:extLst>
              </a:tr>
              <a:tr h="683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Q4. </a:t>
                      </a:r>
                      <a:r>
                        <a:rPr lang="ko-KR" altLang="en-US" sz="1200" b="0" dirty="0"/>
                        <a:t>질문 시점과 반복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화면의 박스</a:t>
                      </a:r>
                      <a:r>
                        <a:rPr lang="en-US" altLang="ko-KR" sz="1200"/>
                        <a:t>·</a:t>
                      </a:r>
                      <a:r>
                        <a:rPr lang="ko-KR" altLang="en-US" sz="1200"/>
                        <a:t>글자가 시선을 분산시켰고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카메라 각도나 제한된 시야 때문에 대상과 상태를 확신하기 어려웠음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 marL="27893" marR="27893" marT="13947" marB="1394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정보량은 많아도 </a:t>
                      </a:r>
                      <a:r>
                        <a:rPr lang="ko-KR" altLang="en-US" sz="1200" b="1" dirty="0"/>
                        <a:t>판단에 필요한 시각 정보는 부족할 수 있음</a:t>
                      </a:r>
                      <a:r>
                        <a:rPr lang="en-US" altLang="ko-KR" sz="1200" dirty="0"/>
                        <a:t>. </a:t>
                      </a:r>
                      <a:r>
                        <a:rPr lang="ko-KR" altLang="en-US" sz="1200" dirty="0"/>
                        <a:t>질문 방식과 화면 제공 방식의 영향을 구분해야 함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27893" marR="27893" marT="13947" marB="1394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21:54–24:37</a:t>
                      </a:r>
                    </a:p>
                  </a:txBody>
                  <a:tcPr marL="27893" marR="27893" marT="13947" marB="1394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9545346"/>
                  </a:ext>
                </a:extLst>
              </a:tr>
              <a:tr h="683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Q5. </a:t>
                      </a:r>
                      <a:r>
                        <a:rPr lang="ko-KR" altLang="en-US" sz="1200" b="0" dirty="0"/>
                        <a:t>수고와 작업 진행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/>
                        <a:t>A</a:t>
                      </a:r>
                      <a:r>
                        <a:rPr lang="ko-KR" altLang="en-US" sz="1200"/>
                        <a:t>가 질문하면 로봇이 잘 모르는 부분이 있다고 받아들임</a:t>
                      </a:r>
                      <a:r>
                        <a:rPr lang="en-US" altLang="ko-KR" sz="1200"/>
                        <a:t>. </a:t>
                      </a:r>
                      <a:r>
                        <a:rPr lang="en" sz="1200"/>
                        <a:t>B</a:t>
                      </a:r>
                      <a:r>
                        <a:rPr lang="ko-KR" altLang="en-US" sz="1200"/>
                        <a:t>는 자신이 단계를 정한다고 생각했기 때문에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어떤 때는 묻고 어떤 때는 스스로 진행하는 점을 의아해함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 marL="27893" marR="27893" marT="13947" marB="1394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사용자가 이해한 역할과 실제 개입 시점의 불일치</a:t>
                      </a:r>
                      <a:r>
                        <a:rPr lang="ko-KR" altLang="en-US" sz="1200" dirty="0"/>
                        <a:t>가 </a:t>
                      </a:r>
                      <a:r>
                        <a:rPr lang="en" sz="1200" dirty="0"/>
                        <a:t>B</a:t>
                      </a:r>
                      <a:r>
                        <a:rPr lang="ko-KR" altLang="en-US" sz="1200" dirty="0"/>
                        <a:t>에서 나타남</a:t>
                      </a:r>
                      <a:r>
                        <a:rPr lang="en-US" altLang="ko-KR" sz="1200" dirty="0"/>
                        <a:t>. </a:t>
                      </a:r>
                      <a:r>
                        <a:rPr lang="ko-KR" altLang="en-US" sz="1200" dirty="0"/>
                        <a:t>단순한 질문 빈도보다 “언제 나에게 결정권이 </a:t>
                      </a:r>
                      <a:r>
                        <a:rPr lang="ko-KR" altLang="en-US" sz="1200" dirty="0" err="1"/>
                        <a:t>있는가”의</a:t>
                      </a:r>
                      <a:r>
                        <a:rPr lang="ko-KR" altLang="en-US" sz="1200" dirty="0"/>
                        <a:t> 문제임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27893" marR="27893" marT="13947" marB="1394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12:16–12:52</a:t>
                      </a:r>
                    </a:p>
                  </a:txBody>
                  <a:tcPr marL="27893" marR="27893" marT="13947" marB="1394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0281949"/>
                  </a:ext>
                </a:extLst>
              </a:tr>
              <a:tr h="683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Q6. </a:t>
                      </a:r>
                      <a:r>
                        <a:rPr lang="ko-KR" altLang="en-US" sz="1200" b="0" dirty="0"/>
                        <a:t>재사용 선호와 개선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/>
                        <a:t>A</a:t>
                      </a:r>
                      <a:r>
                        <a:rPr lang="ko-KR" altLang="en-US" sz="1200"/>
                        <a:t>는 생각할 것이 적고 빨리 끝난 느낌이었음</a:t>
                      </a:r>
                      <a:r>
                        <a:rPr lang="en-US" altLang="ko-KR" sz="1200"/>
                        <a:t>. </a:t>
                      </a:r>
                      <a:r>
                        <a:rPr lang="en" sz="1200"/>
                        <a:t>B</a:t>
                      </a:r>
                      <a:r>
                        <a:rPr lang="ko-KR" altLang="en-US" sz="1200"/>
                        <a:t>는 전체 상황과 선택 결과를 고려해야 해 더 수고스러웠음</a:t>
                      </a:r>
                      <a:r>
                        <a:rPr lang="en-US" altLang="ko-KR" sz="1200"/>
                        <a:t>. </a:t>
                      </a:r>
                      <a:r>
                        <a:rPr lang="ko-KR" altLang="en-US" sz="1200"/>
                        <a:t>다만 </a:t>
                      </a:r>
                      <a:r>
                        <a:rPr lang="en" sz="1200"/>
                        <a:t>B</a:t>
                      </a:r>
                      <a:r>
                        <a:rPr lang="ko-KR" altLang="en-US" sz="1200"/>
                        <a:t>도 선택한 행동은 예상대로 수행했다고 응답함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 marL="27893" marR="27893" marT="13947" marB="1394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/>
                        <a:t>A</a:t>
                      </a:r>
                      <a:r>
                        <a:rPr lang="ko-KR" altLang="en-US" sz="1200"/>
                        <a:t>의 </a:t>
                      </a:r>
                      <a:r>
                        <a:rPr lang="ko-KR" altLang="en-US" sz="1200" b="1"/>
                        <a:t>낮은 지각된 판단 노력</a:t>
                      </a:r>
                      <a:r>
                        <a:rPr lang="ko-KR" altLang="en-US" sz="1200"/>
                        <a:t>을 지지함</a:t>
                      </a:r>
                      <a:r>
                        <a:rPr lang="en-US" altLang="ko-KR" sz="1200"/>
                        <a:t>. </a:t>
                      </a:r>
                      <a:r>
                        <a:rPr lang="en" sz="1200"/>
                        <a:t>B</a:t>
                      </a:r>
                      <a:r>
                        <a:rPr lang="ko-KR" altLang="en-US" sz="1200"/>
                        <a:t>에 생각할 것이 많았다는 평가를 전반적인 사용 불가능이나 수행 실패로 확대하면 안 됨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 marL="27893" marR="27893" marT="13947" marB="1394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13:45, 16:27–17:58</a:t>
                      </a:r>
                    </a:p>
                  </a:txBody>
                  <a:tcPr marL="27893" marR="27893" marT="13947" marB="1394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7267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8345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24450-AE51-DF1D-41D5-479E05CE1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D5B740-FB9A-4EC6-7AD9-06560FBD8649}"/>
              </a:ext>
            </a:extLst>
          </p:cNvPr>
          <p:cNvSpPr txBox="1"/>
          <p:nvPr/>
        </p:nvSpPr>
        <p:spPr>
          <a:xfrm>
            <a:off x="425302" y="404037"/>
            <a:ext cx="14221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sz="1400" b="1" dirty="0">
                <a:latin typeface="+mj-ea"/>
                <a:ea typeface="+mj-ea"/>
              </a:rPr>
              <a:t>P</a:t>
            </a:r>
            <a:r>
              <a:rPr lang="en-US" altLang="ko-KR" sz="1400" b="1" dirty="0">
                <a:latin typeface="+mj-ea"/>
                <a:ea typeface="+mj-ea"/>
              </a:rPr>
              <a:t>3</a:t>
            </a:r>
            <a:r>
              <a:rPr lang="ko-KR" altLang="en-US" sz="1400" b="1" dirty="0">
                <a:latin typeface="+mj-ea"/>
                <a:ea typeface="+mj-ea"/>
              </a:rPr>
              <a:t> 주제별 분석</a:t>
            </a:r>
            <a:endParaRPr kumimoji="1" lang="ko-KR" altLang="en-US" sz="1400" b="1" dirty="0">
              <a:latin typeface="+mj-ea"/>
              <a:ea typeface="+mj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893F082-5881-922B-C1D8-C9A09493C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450300"/>
              </p:ext>
            </p:extLst>
          </p:nvPr>
        </p:nvGraphicFramePr>
        <p:xfrm>
          <a:off x="425302" y="1096290"/>
          <a:ext cx="11197608" cy="450884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00940">
                  <a:extLst>
                    <a:ext uri="{9D8B030D-6E8A-4147-A177-3AD203B41FA5}">
                      <a16:colId xmlns:a16="http://schemas.microsoft.com/office/drawing/2014/main" val="3362588610"/>
                    </a:ext>
                  </a:extLst>
                </a:gridCol>
                <a:gridCol w="3397864">
                  <a:extLst>
                    <a:ext uri="{9D8B030D-6E8A-4147-A177-3AD203B41FA5}">
                      <a16:colId xmlns:a16="http://schemas.microsoft.com/office/drawing/2014/main" val="641337673"/>
                    </a:ext>
                  </a:extLst>
                </a:gridCol>
                <a:gridCol w="4013029">
                  <a:extLst>
                    <a:ext uri="{9D8B030D-6E8A-4147-A177-3AD203B41FA5}">
                      <a16:colId xmlns:a16="http://schemas.microsoft.com/office/drawing/2014/main" val="14377056"/>
                    </a:ext>
                  </a:extLst>
                </a:gridCol>
                <a:gridCol w="1585775">
                  <a:extLst>
                    <a:ext uri="{9D8B030D-6E8A-4147-A177-3AD203B41FA5}">
                      <a16:colId xmlns:a16="http://schemas.microsoft.com/office/drawing/2014/main" val="2720660445"/>
                    </a:ext>
                  </a:extLst>
                </a:gridCol>
              </a:tblGrid>
              <a:tr h="143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질문</a:t>
                      </a:r>
                    </a:p>
                  </a:txBody>
                  <a:tcPr marL="35961" marR="35961" marT="17981" marB="1798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주요 응답</a:t>
                      </a:r>
                    </a:p>
                  </a:txBody>
                  <a:tcPr marL="35961" marR="35961" marT="17981" marB="1798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분석 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 의미</a:t>
                      </a:r>
                    </a:p>
                  </a:txBody>
                  <a:tcPr marL="35961" marR="35961" marT="17981" marB="1798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b="1" dirty="0"/>
                    </a:p>
                  </a:txBody>
                  <a:tcPr marL="35961" marR="35961" marT="17981" marB="1798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3851138"/>
                  </a:ext>
                </a:extLst>
              </a:tr>
              <a:tr h="683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Q1. </a:t>
                      </a:r>
                      <a:r>
                        <a:rPr lang="ko-KR" altLang="en-US" sz="1200" b="0" dirty="0"/>
                        <a:t>가장 기억에 남는 차이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dirty="0"/>
                        <a:t>A</a:t>
                      </a:r>
                      <a:r>
                        <a:rPr lang="ko-KR" altLang="en-US" sz="1200" dirty="0"/>
                        <a:t>는 예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 err="1"/>
                        <a:t>아니요로</a:t>
                      </a:r>
                      <a:r>
                        <a:rPr lang="ko-KR" altLang="en-US" sz="1200" dirty="0"/>
                        <a:t> 응답하고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" sz="1200" dirty="0"/>
                        <a:t>B</a:t>
                      </a:r>
                      <a:r>
                        <a:rPr lang="ko-KR" altLang="en-US" sz="1200" dirty="0"/>
                        <a:t>는 더 능동적으로 판단하며 직접 입력할 수도 있는 방식으로 기억함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34263" marR="34263" marT="17131" marB="17131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첫 번째로 주목한 차이는 </a:t>
                      </a:r>
                      <a:r>
                        <a:rPr lang="ko-KR" altLang="en-US" sz="1200" b="1" dirty="0"/>
                        <a:t>응답 형식과 판단의 능동성</a:t>
                      </a:r>
                      <a:r>
                        <a:rPr lang="ko-KR" altLang="en-US" sz="1200" dirty="0"/>
                        <a:t>임</a:t>
                      </a:r>
                      <a:r>
                        <a:rPr lang="en-US" altLang="ko-KR" sz="1200" dirty="0"/>
                        <a:t>. </a:t>
                      </a:r>
                      <a:r>
                        <a:rPr lang="en" sz="1200" dirty="0"/>
                        <a:t>B</a:t>
                      </a:r>
                      <a:r>
                        <a:rPr lang="ko-KR" altLang="en-US" sz="1200" dirty="0" err="1"/>
                        <a:t>를</a:t>
                      </a:r>
                      <a:r>
                        <a:rPr lang="ko-KR" altLang="en-US" sz="1200" dirty="0"/>
                        <a:t> ‘</a:t>
                      </a:r>
                      <a:r>
                        <a:rPr lang="ko-KR" altLang="en-US" sz="1200" dirty="0" err="1"/>
                        <a:t>개방형’이라고</a:t>
                      </a:r>
                      <a:r>
                        <a:rPr lang="ko-KR" altLang="en-US" sz="1200" dirty="0"/>
                        <a:t> 표현했지만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이는 참가자의 인식으로 기록해야 함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34263" marR="34263" marT="17131" marB="17131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00:24–02:25</a:t>
                      </a:r>
                    </a:p>
                  </a:txBody>
                  <a:tcPr marL="34263" marR="34263" marT="17131" marB="17131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3893581"/>
                  </a:ext>
                </a:extLst>
              </a:tr>
              <a:tr h="79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Q2. </a:t>
                      </a:r>
                      <a:r>
                        <a:rPr lang="ko-KR" altLang="en-US" sz="1200" b="0" dirty="0"/>
                        <a:t>답을 고르는 과정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화면과 질문의 대상 번호를 대응시킴</a:t>
                      </a:r>
                      <a:r>
                        <a:rPr lang="en-US" altLang="ko-KR" sz="1200"/>
                        <a:t>. </a:t>
                      </a:r>
                      <a:r>
                        <a:rPr lang="en" sz="1200"/>
                        <a:t>A</a:t>
                      </a:r>
                      <a:r>
                        <a:rPr lang="ko-KR" altLang="en-US" sz="1200"/>
                        <a:t>에서는 “익었습니까</a:t>
                      </a:r>
                      <a:r>
                        <a:rPr lang="en-US" altLang="ko-KR" sz="1200"/>
                        <a:t>/</a:t>
                      </a:r>
                      <a:r>
                        <a:rPr lang="ko-KR" altLang="en-US" sz="1200"/>
                        <a:t>안 익었습니까”를 구분하려고 노력함</a:t>
                      </a:r>
                      <a:r>
                        <a:rPr lang="en-US" altLang="ko-KR" sz="1200"/>
                        <a:t>. </a:t>
                      </a:r>
                      <a:r>
                        <a:rPr lang="en" sz="1200"/>
                        <a:t>B</a:t>
                      </a:r>
                      <a:r>
                        <a:rPr lang="ko-KR" altLang="en-US" sz="1200"/>
                        <a:t>에서는 서로 다른 행동 문장이 무엇을 의미하는지 더 고민함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 marL="34263" marR="34263" marT="17131" marB="1713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dirty="0"/>
                        <a:t>A</a:t>
                      </a:r>
                      <a:r>
                        <a:rPr lang="ko-KR" altLang="en-US" sz="1200" dirty="0"/>
                        <a:t>는 </a:t>
                      </a:r>
                      <a:r>
                        <a:rPr lang="ko-KR" altLang="en-US" sz="1200" b="1" dirty="0"/>
                        <a:t>대상 확인과 긍정</a:t>
                      </a:r>
                      <a:r>
                        <a:rPr lang="en-US" altLang="ko-KR" sz="1200" b="1" dirty="0"/>
                        <a:t>·</a:t>
                      </a:r>
                      <a:r>
                        <a:rPr lang="ko-KR" altLang="en-US" sz="1200" b="1" dirty="0"/>
                        <a:t>부정 문구 해석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" sz="1200" dirty="0"/>
                        <a:t>B</a:t>
                      </a:r>
                      <a:r>
                        <a:rPr lang="ko-KR" altLang="en-US" sz="1200" dirty="0"/>
                        <a:t>는 </a:t>
                      </a:r>
                      <a:r>
                        <a:rPr lang="ko-KR" altLang="en-US" sz="1200" b="1" dirty="0"/>
                        <a:t>행동 의미와 선택 결과 해석</a:t>
                      </a:r>
                      <a:r>
                        <a:rPr lang="ko-KR" altLang="en-US" sz="1200" dirty="0"/>
                        <a:t>에서 노력이 발생함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34263" marR="34263" marT="17131" marB="1713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03:18–05:05</a:t>
                      </a:r>
                    </a:p>
                  </a:txBody>
                  <a:tcPr marL="34263" marR="34263" marT="17131" marB="1713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9540985"/>
                  </a:ext>
                </a:extLst>
              </a:tr>
              <a:tr h="683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Q3. </a:t>
                      </a:r>
                      <a:r>
                        <a:rPr lang="ko-KR" altLang="en-US" sz="1200" b="0" dirty="0"/>
                        <a:t>화면 정보와 선택지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대상 번호와 재질 태그를 참고함</a:t>
                      </a:r>
                      <a:r>
                        <a:rPr lang="en-US" altLang="ko-KR" sz="1200"/>
                        <a:t>. </a:t>
                      </a:r>
                      <a:r>
                        <a:rPr lang="en" sz="1200"/>
                        <a:t>A</a:t>
                      </a:r>
                      <a:r>
                        <a:rPr lang="ko-KR" altLang="en-US" sz="1200"/>
                        <a:t>에서 화면에 표시되지 않은 번호를 물으면 무엇을 확인해야 할지 몰라 망설임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 marL="34263" marR="34263" marT="17131" marB="1713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/>
                        <a:t>질문 대상과 화면 정보의 대응</a:t>
                      </a:r>
                      <a:r>
                        <a:rPr lang="ko-KR" altLang="en-US" sz="1200"/>
                        <a:t>이 중요함</a:t>
                      </a:r>
                      <a:r>
                        <a:rPr lang="en-US" altLang="ko-KR" sz="1200"/>
                        <a:t>. </a:t>
                      </a:r>
                      <a:r>
                        <a:rPr lang="ko-KR" altLang="en-US" sz="1200"/>
                        <a:t>화면에서 식별되지 않는 대상을 질문하면 상태 확인형 응답도 어려워질 수 있음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 marL="34263" marR="34263" marT="17131" marB="1713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12:11–15:10</a:t>
                      </a:r>
                    </a:p>
                  </a:txBody>
                  <a:tcPr marL="34263" marR="34263" marT="17131" marB="1713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979296"/>
                  </a:ext>
                </a:extLst>
              </a:tr>
              <a:tr h="683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Q4. </a:t>
                      </a:r>
                      <a:r>
                        <a:rPr lang="ko-KR" altLang="en-US" sz="1200" b="0" dirty="0"/>
                        <a:t>질문 시점과 반복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/>
                        <a:t>A</a:t>
                      </a:r>
                      <a:r>
                        <a:rPr lang="ko-KR" altLang="en-US" sz="1200"/>
                        <a:t>는 어떤 때는 묻고 어떤 때는 묻지 않는다고 느낌</a:t>
                      </a:r>
                      <a:r>
                        <a:rPr lang="en-US" altLang="ko-KR" sz="1200"/>
                        <a:t>. </a:t>
                      </a:r>
                      <a:r>
                        <a:rPr lang="ko-KR" altLang="en-US" sz="1200"/>
                        <a:t>팝업이 유지된 채 번호만 바뀌어 터치가 처리되었는지 재확인함</a:t>
                      </a:r>
                      <a:r>
                        <a:rPr lang="en-US" altLang="ko-KR" sz="1200"/>
                        <a:t>. </a:t>
                      </a:r>
                      <a:r>
                        <a:rPr lang="en" sz="1200"/>
                        <a:t>B</a:t>
                      </a:r>
                      <a:r>
                        <a:rPr lang="ko-KR" altLang="en-US" sz="1200"/>
                        <a:t>는 물어봐야 할 것을 묻는 느낌이라고 평가함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 marL="34263" marR="34263" marT="17131" marB="1713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질문 시점에 대한 인식과 </a:t>
                      </a:r>
                      <a:r>
                        <a:rPr lang="ko-KR" altLang="en-US" sz="1200" b="1"/>
                        <a:t>응답 접수</a:t>
                      </a:r>
                      <a:r>
                        <a:rPr lang="en-US" altLang="ko-KR" sz="1200" b="1"/>
                        <a:t>·</a:t>
                      </a:r>
                      <a:r>
                        <a:rPr lang="ko-KR" altLang="en-US" sz="1200" b="1"/>
                        <a:t>새 질문 표시의 불명확성</a:t>
                      </a:r>
                      <a:r>
                        <a:rPr lang="ko-KR" altLang="en-US" sz="1200"/>
                        <a:t>을 구분해야 함</a:t>
                      </a:r>
                      <a:r>
                        <a:rPr lang="en-US" altLang="ko-KR" sz="1200"/>
                        <a:t>. </a:t>
                      </a:r>
                      <a:r>
                        <a:rPr lang="ko-KR" altLang="en-US" sz="1200"/>
                        <a:t>후자는 인터페이스 피드백 문제임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 marL="34263" marR="34263" marT="17131" marB="1713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08:05–08:54</a:t>
                      </a:r>
                    </a:p>
                  </a:txBody>
                  <a:tcPr marL="34263" marR="34263" marT="17131" marB="1713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9545346"/>
                  </a:ext>
                </a:extLst>
              </a:tr>
              <a:tr h="683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Q5. </a:t>
                      </a:r>
                      <a:r>
                        <a:rPr lang="ko-KR" altLang="en-US" sz="1200" b="0" dirty="0"/>
                        <a:t>수고와 작업 진행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/>
                        <a:t>B</a:t>
                      </a:r>
                      <a:r>
                        <a:rPr lang="ko-KR" altLang="en-US" sz="1200"/>
                        <a:t>는 생각할 것이 많아서 수고스럽고</a:t>
                      </a:r>
                      <a:r>
                        <a:rPr lang="en-US" altLang="ko-KR" sz="1200"/>
                        <a:t>, </a:t>
                      </a:r>
                      <a:r>
                        <a:rPr lang="en" sz="1200"/>
                        <a:t>A</a:t>
                      </a:r>
                      <a:r>
                        <a:rPr lang="ko-KR" altLang="en-US" sz="1200"/>
                        <a:t>는 질문 빈도가 높아서 귀찮았다고 설명함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 marL="34263" marR="34263" marT="17131" marB="1713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/>
                        <a:t>개별 응답의 판단 노력과 반복 개입의 번거로움이 분리</a:t>
                      </a:r>
                      <a:r>
                        <a:rPr lang="ko-KR" altLang="en-US" sz="1200"/>
                        <a:t>되어 나타남</a:t>
                      </a:r>
                      <a:r>
                        <a:rPr lang="en-US" altLang="ko-KR" sz="1200"/>
                        <a:t>. </a:t>
                      </a:r>
                      <a:r>
                        <a:rPr lang="en" sz="1200"/>
                        <a:t>A</a:t>
                      </a:r>
                      <a:r>
                        <a:rPr lang="ko-KR" altLang="en-US" sz="1200"/>
                        <a:t>의 전체 부담이 무조건 낮다고 단정하기 어려움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 marL="34263" marR="34263" marT="17131" marB="1713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17:51</a:t>
                      </a:r>
                    </a:p>
                  </a:txBody>
                  <a:tcPr marL="34263" marR="34263" marT="17131" marB="1713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0281949"/>
                  </a:ext>
                </a:extLst>
              </a:tr>
              <a:tr h="683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Q6. </a:t>
                      </a:r>
                      <a:r>
                        <a:rPr lang="ko-KR" altLang="en-US" sz="1200" b="0" dirty="0"/>
                        <a:t>재사용 선호와 개선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생각하는 수고가 적다는 이유로 </a:t>
                      </a:r>
                      <a:r>
                        <a:rPr lang="en" sz="1200" dirty="0"/>
                        <a:t>A</a:t>
                      </a:r>
                      <a:r>
                        <a:rPr lang="ko-KR" altLang="en-US" sz="1200" dirty="0" err="1"/>
                        <a:t>를</a:t>
                      </a:r>
                      <a:r>
                        <a:rPr lang="ko-KR" altLang="en-US" sz="1200" dirty="0"/>
                        <a:t> 선택함</a:t>
                      </a:r>
                      <a:r>
                        <a:rPr lang="en-US" altLang="ko-KR" sz="1200" dirty="0"/>
                        <a:t>. </a:t>
                      </a:r>
                      <a:r>
                        <a:rPr lang="en" sz="1200" dirty="0"/>
                        <a:t>A</a:t>
                      </a:r>
                      <a:r>
                        <a:rPr lang="ko-KR" altLang="en-US" sz="1200" dirty="0"/>
                        <a:t>의 긍정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부정 질문을 일관되게 하고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" sz="1200" dirty="0"/>
                        <a:t>B</a:t>
                      </a:r>
                      <a:r>
                        <a:rPr lang="ko-KR" altLang="en-US" sz="1200" dirty="0"/>
                        <a:t>의 직접 입력 필요성을 명확히 하길 원함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34263" marR="34263" marT="17131" marB="1713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/>
                        <a:t>A</a:t>
                      </a:r>
                      <a:r>
                        <a:rPr lang="ko-KR" altLang="en-US" sz="1200"/>
                        <a:t>의 선호 근거는 </a:t>
                      </a:r>
                      <a:r>
                        <a:rPr lang="ko-KR" altLang="en-US" sz="1200" b="1"/>
                        <a:t>사용 편의성</a:t>
                      </a:r>
                      <a:r>
                        <a:rPr lang="ko-KR" altLang="en-US" sz="1200"/>
                        <a:t>임</a:t>
                      </a:r>
                      <a:r>
                        <a:rPr lang="en-US" altLang="ko-KR" sz="1200"/>
                        <a:t>. </a:t>
                      </a:r>
                      <a:r>
                        <a:rPr lang="ko-KR" altLang="en-US" sz="1200"/>
                        <a:t>개선 요구는 질문 문구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전환 피드백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응답 방식 안내로 구체화됨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 marL="34263" marR="34263" marT="17131" marB="1713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18:55–20:58, 22:25</a:t>
                      </a:r>
                    </a:p>
                  </a:txBody>
                  <a:tcPr marL="34263" marR="34263" marT="17131" marB="1713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7267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2570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029D1-1A24-76C5-BE07-8E4AFC4C5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120539-8594-87CF-2072-288A5D255F86}"/>
              </a:ext>
            </a:extLst>
          </p:cNvPr>
          <p:cNvSpPr txBox="1"/>
          <p:nvPr/>
        </p:nvSpPr>
        <p:spPr>
          <a:xfrm>
            <a:off x="425302" y="404037"/>
            <a:ext cx="14221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sz="1400" b="1" dirty="0">
                <a:latin typeface="+mj-ea"/>
                <a:ea typeface="+mj-ea"/>
              </a:rPr>
              <a:t>P</a:t>
            </a:r>
            <a:r>
              <a:rPr lang="en-US" altLang="ko-KR" sz="1400" b="1" dirty="0">
                <a:latin typeface="+mj-ea"/>
                <a:ea typeface="+mj-ea"/>
              </a:rPr>
              <a:t>4</a:t>
            </a:r>
            <a:r>
              <a:rPr lang="ko-KR" altLang="en-US" sz="1400" b="1" dirty="0">
                <a:latin typeface="+mj-ea"/>
                <a:ea typeface="+mj-ea"/>
              </a:rPr>
              <a:t> 주제별 분석</a:t>
            </a:r>
            <a:endParaRPr kumimoji="1" lang="ko-KR" altLang="en-US" sz="1400" b="1" dirty="0">
              <a:latin typeface="+mj-ea"/>
              <a:ea typeface="+mj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7125E59-4CD4-B284-CF46-AB4D7EA3EB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034840"/>
              </p:ext>
            </p:extLst>
          </p:nvPr>
        </p:nvGraphicFramePr>
        <p:xfrm>
          <a:off x="425302" y="1096290"/>
          <a:ext cx="11197608" cy="451146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00940">
                  <a:extLst>
                    <a:ext uri="{9D8B030D-6E8A-4147-A177-3AD203B41FA5}">
                      <a16:colId xmlns:a16="http://schemas.microsoft.com/office/drawing/2014/main" val="3362588610"/>
                    </a:ext>
                  </a:extLst>
                </a:gridCol>
                <a:gridCol w="3397864">
                  <a:extLst>
                    <a:ext uri="{9D8B030D-6E8A-4147-A177-3AD203B41FA5}">
                      <a16:colId xmlns:a16="http://schemas.microsoft.com/office/drawing/2014/main" val="641337673"/>
                    </a:ext>
                  </a:extLst>
                </a:gridCol>
                <a:gridCol w="4013029">
                  <a:extLst>
                    <a:ext uri="{9D8B030D-6E8A-4147-A177-3AD203B41FA5}">
                      <a16:colId xmlns:a16="http://schemas.microsoft.com/office/drawing/2014/main" val="14377056"/>
                    </a:ext>
                  </a:extLst>
                </a:gridCol>
                <a:gridCol w="1585775">
                  <a:extLst>
                    <a:ext uri="{9D8B030D-6E8A-4147-A177-3AD203B41FA5}">
                      <a16:colId xmlns:a16="http://schemas.microsoft.com/office/drawing/2014/main" val="2720660445"/>
                    </a:ext>
                  </a:extLst>
                </a:gridCol>
              </a:tblGrid>
              <a:tr h="143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질문</a:t>
                      </a:r>
                    </a:p>
                  </a:txBody>
                  <a:tcPr marL="35961" marR="35961" marT="17981" marB="1798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주요 응답</a:t>
                      </a:r>
                    </a:p>
                  </a:txBody>
                  <a:tcPr marL="35961" marR="35961" marT="17981" marB="1798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분석 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 의미</a:t>
                      </a:r>
                    </a:p>
                  </a:txBody>
                  <a:tcPr marL="35961" marR="35961" marT="17981" marB="1798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b="1" dirty="0"/>
                    </a:p>
                  </a:txBody>
                  <a:tcPr marL="35961" marR="35961" marT="17981" marB="1798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3851138"/>
                  </a:ext>
                </a:extLst>
              </a:tr>
              <a:tr h="683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Q1. </a:t>
                      </a:r>
                      <a:r>
                        <a:rPr lang="ko-KR" altLang="en-US" sz="1200" b="0" dirty="0"/>
                        <a:t>가장 기억에 남는 차이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dirty="0"/>
                        <a:t>A</a:t>
                      </a:r>
                      <a:r>
                        <a:rPr lang="ko-KR" altLang="en-US" sz="1200" dirty="0"/>
                        <a:t>는 상태를 판단하는 방식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" sz="1200" dirty="0"/>
                        <a:t>B</a:t>
                      </a:r>
                      <a:r>
                        <a:rPr lang="ko-KR" altLang="en-US" sz="1200" dirty="0"/>
                        <a:t>는 어떤 행동을 할지 사용자가 결정하는 방식이라고 설명함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36876" marR="36876" marT="18438" marB="18438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가장 먼저 인식한 차이는 </a:t>
                      </a:r>
                      <a:r>
                        <a:rPr lang="ko-KR" altLang="en-US" sz="1200" b="1"/>
                        <a:t>판단의 대상과 행동 결정권</a:t>
                      </a:r>
                      <a:r>
                        <a:rPr lang="ko-KR" altLang="en-US" sz="1200"/>
                        <a:t>임</a:t>
                      </a:r>
                      <a:r>
                        <a:rPr lang="en-US" altLang="ko-KR" sz="1200"/>
                        <a:t>. </a:t>
                      </a:r>
                      <a:r>
                        <a:rPr lang="en" sz="1200"/>
                        <a:t>B</a:t>
                      </a:r>
                      <a:r>
                        <a:rPr lang="ko-KR" altLang="en-US" sz="1200"/>
                        <a:t>의 주도권을 인식했지만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이를 선호 이유로 연결하지는 않음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 marL="36876" marR="36876" marT="18438" marB="18438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00:14–00:52</a:t>
                      </a:r>
                    </a:p>
                  </a:txBody>
                  <a:tcPr marL="36876" marR="36876" marT="18438" marB="18438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3893581"/>
                  </a:ext>
                </a:extLst>
              </a:tr>
              <a:tr h="79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Q2. </a:t>
                      </a:r>
                      <a:r>
                        <a:rPr lang="ko-KR" altLang="en-US" sz="1200" b="0" dirty="0"/>
                        <a:t>답을 고르는 과정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/>
                        <a:t>A</a:t>
                      </a:r>
                      <a:r>
                        <a:rPr lang="ko-KR" altLang="en-US" sz="1200"/>
                        <a:t>는 상태를 보고 응답하면 되어 생각할 것이 적었음</a:t>
                      </a:r>
                      <a:r>
                        <a:rPr lang="en-US" altLang="ko-KR" sz="1200"/>
                        <a:t>. </a:t>
                      </a:r>
                      <a:r>
                        <a:rPr lang="en" sz="1200"/>
                        <a:t>B</a:t>
                      </a:r>
                      <a:r>
                        <a:rPr lang="ko-KR" altLang="en-US" sz="1200"/>
                        <a:t>는 위치 파악</a:t>
                      </a:r>
                      <a:r>
                        <a:rPr lang="en-US" altLang="ko-KR" sz="1200"/>
                        <a:t>·</a:t>
                      </a:r>
                      <a:r>
                        <a:rPr lang="ko-KR" altLang="en-US" sz="1200"/>
                        <a:t>집기</a:t>
                      </a:r>
                      <a:r>
                        <a:rPr lang="en-US" altLang="ko-KR" sz="1200"/>
                        <a:t>·</a:t>
                      </a:r>
                      <a:r>
                        <a:rPr lang="ko-KR" altLang="en-US" sz="1200"/>
                        <a:t>상태 확인 등 단계를 고려해야 했음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 marL="36876" marR="36876" marT="18438" marB="1843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dirty="0"/>
                        <a:t>A</a:t>
                      </a:r>
                      <a:r>
                        <a:rPr lang="ko-KR" altLang="en-US" sz="1200" dirty="0"/>
                        <a:t>는 </a:t>
                      </a:r>
                      <a:r>
                        <a:rPr lang="ko-KR" altLang="en-US" sz="1200" b="1" dirty="0"/>
                        <a:t>상태 판단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" sz="1200" dirty="0"/>
                        <a:t>B</a:t>
                      </a:r>
                      <a:r>
                        <a:rPr lang="ko-KR" altLang="en-US" sz="1200" dirty="0"/>
                        <a:t>는 </a:t>
                      </a:r>
                      <a:r>
                        <a:rPr lang="ko-KR" altLang="en-US" sz="1200" b="1" dirty="0"/>
                        <a:t>행동 순서와 선행 단계 판단</a:t>
                      </a:r>
                      <a:r>
                        <a:rPr lang="ko-KR" altLang="en-US" sz="1200" dirty="0"/>
                        <a:t>을 요구한 것으로 경험됨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36876" marR="36876" marT="18438" marB="1843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01:59–02:46</a:t>
                      </a:r>
                    </a:p>
                  </a:txBody>
                  <a:tcPr marL="36876" marR="36876" marT="18438" marB="1843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9540985"/>
                  </a:ext>
                </a:extLst>
              </a:tr>
              <a:tr h="683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Q3. </a:t>
                      </a:r>
                      <a:r>
                        <a:rPr lang="ko-KR" altLang="en-US" sz="1200" b="0" dirty="0"/>
                        <a:t>화면 정보와 선택지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대상 확인 정보는 두 조건 모두 충분했다고 평가함</a:t>
                      </a:r>
                      <a:r>
                        <a:rPr lang="en-US" altLang="ko-KR" sz="1200" dirty="0"/>
                        <a:t>. </a:t>
                      </a:r>
                      <a:r>
                        <a:rPr lang="ko-KR" altLang="en-US" sz="1200" dirty="0"/>
                        <a:t>토마토가 회전하면서 썩은 부분이 보여 판단에 도움이 되었음</a:t>
                      </a:r>
                      <a:r>
                        <a:rPr lang="en-US" altLang="ko-KR" sz="1200" dirty="0"/>
                        <a:t>. </a:t>
                      </a:r>
                      <a:r>
                        <a:rPr lang="ko-KR" altLang="en-US" sz="1200" dirty="0"/>
                        <a:t>원하는 응답이 없을 때 직접 입력했다고 보고함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36876" marR="36876" marT="18438" marB="1843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화면 정보의 부족이 두드러졌던 참가자들과 달리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" sz="1200" dirty="0"/>
                        <a:t>P4</a:t>
                      </a:r>
                      <a:r>
                        <a:rPr lang="ko-KR" altLang="en-US" sz="1200" dirty="0"/>
                        <a:t>는 </a:t>
                      </a:r>
                      <a:r>
                        <a:rPr lang="ko-KR" altLang="en-US" sz="1200" b="1" dirty="0"/>
                        <a:t>정보 제공과 직접 입력을 대체로 활용할 수 있었음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36876" marR="36876" marT="18438" marB="1843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05:54–09:06</a:t>
                      </a:r>
                    </a:p>
                  </a:txBody>
                  <a:tcPr marL="36876" marR="36876" marT="18438" marB="1843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979296"/>
                  </a:ext>
                </a:extLst>
              </a:tr>
              <a:tr h="683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Q4. </a:t>
                      </a:r>
                      <a:r>
                        <a:rPr lang="ko-KR" altLang="en-US" sz="1200" b="0" dirty="0"/>
                        <a:t>질문 시점과 반복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질문 시점은 적절했다고 평가함</a:t>
                      </a:r>
                      <a:r>
                        <a:rPr lang="en-US" altLang="ko-KR" sz="1200"/>
                        <a:t>. </a:t>
                      </a:r>
                      <a:r>
                        <a:rPr lang="ko-KR" altLang="en-US" sz="1200"/>
                        <a:t>다만 </a:t>
                      </a:r>
                      <a:r>
                        <a:rPr lang="en" sz="1200"/>
                        <a:t>A</a:t>
                      </a:r>
                      <a:r>
                        <a:rPr lang="ko-KR" altLang="en-US" sz="1200"/>
                        <a:t>에서 화면에 보이지 않는 토마토의 줄기를 묻는 질문은 왜 필요한지 모르겠다고 설명함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 marL="36876" marR="36876" marT="18438" marB="1843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/>
                        <a:t>시점의 적절성과 질문의 필요성에 대한 이해는 별개</a:t>
                      </a:r>
                      <a:r>
                        <a:rPr lang="ko-KR" altLang="en-US" sz="1200"/>
                        <a:t>임</a:t>
                      </a:r>
                      <a:r>
                        <a:rPr lang="en-US" altLang="ko-KR" sz="1200"/>
                        <a:t>. </a:t>
                      </a:r>
                      <a:r>
                        <a:rPr lang="ko-KR" altLang="en-US" sz="1200"/>
                        <a:t>불필요하다고 느낀 질문을 곧바로 반복 질문으로 분류하면 안 됨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 marL="36876" marR="36876" marT="18438" marB="1843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09:42, 11:48–12:03</a:t>
                      </a:r>
                    </a:p>
                  </a:txBody>
                  <a:tcPr marL="36876" marR="36876" marT="18438" marB="1843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9545346"/>
                  </a:ext>
                </a:extLst>
              </a:tr>
              <a:tr h="683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Q5. </a:t>
                      </a:r>
                      <a:r>
                        <a:rPr lang="ko-KR" altLang="en-US" sz="1200" b="0" dirty="0"/>
                        <a:t>수고와 작업 진행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/>
                        <a:t>A</a:t>
                      </a:r>
                      <a:r>
                        <a:rPr lang="ko-KR" altLang="en-US" sz="1200"/>
                        <a:t>는 상태만 진단하면 로봇이 처리하므로 직관적이고 수고가 적었음</a:t>
                      </a:r>
                      <a:r>
                        <a:rPr lang="en-US" altLang="ko-KR" sz="1200"/>
                        <a:t>. </a:t>
                      </a:r>
                      <a:r>
                        <a:rPr lang="en" sz="1200"/>
                        <a:t>B</a:t>
                      </a:r>
                      <a:r>
                        <a:rPr lang="ko-KR" altLang="en-US" sz="1200"/>
                        <a:t>는 더 고민해야 하는 부분이 있었음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 marL="36876" marR="36876" marT="18438" marB="1843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dirty="0">
                          <a:solidFill>
                            <a:srgbClr val="0000FF"/>
                          </a:solidFill>
                        </a:rPr>
                        <a:t>A</a:t>
                      </a:r>
                      <a:r>
                        <a:rPr lang="ko-KR" altLang="en-US" sz="1200" dirty="0">
                          <a:solidFill>
                            <a:srgbClr val="0000FF"/>
                          </a:solidFill>
                        </a:rPr>
                        <a:t>의 장점은 </a:t>
                      </a:r>
                      <a:r>
                        <a:rPr lang="ko-KR" altLang="en-US" sz="1200" b="1" dirty="0">
                          <a:solidFill>
                            <a:srgbClr val="0000FF"/>
                          </a:solidFill>
                        </a:rPr>
                        <a:t>사용자가 행동을 계획</a:t>
                      </a:r>
                      <a:r>
                        <a:rPr lang="en-US" altLang="ko-KR" sz="1200" b="1" dirty="0">
                          <a:solidFill>
                            <a:srgbClr val="0000FF"/>
                          </a:solidFill>
                        </a:rPr>
                        <a:t>·</a:t>
                      </a:r>
                      <a:r>
                        <a:rPr lang="ko-KR" altLang="en-US" sz="1200" b="1" dirty="0">
                          <a:solidFill>
                            <a:srgbClr val="0000FF"/>
                          </a:solidFill>
                        </a:rPr>
                        <a:t>선택하는 노력의 감소</a:t>
                      </a:r>
                      <a:r>
                        <a:rPr lang="ko-KR" altLang="en-US" sz="1200" dirty="0">
                          <a:solidFill>
                            <a:srgbClr val="0000FF"/>
                          </a:solidFill>
                        </a:rPr>
                        <a:t>임</a:t>
                      </a:r>
                      <a:r>
                        <a:rPr lang="en-US" altLang="ko-KR" sz="1200" dirty="0">
                          <a:solidFill>
                            <a:srgbClr val="0000FF"/>
                          </a:solidFill>
                        </a:rPr>
                        <a:t>. </a:t>
                      </a:r>
                      <a:r>
                        <a:rPr lang="en" sz="1200" dirty="0"/>
                        <a:t>B </a:t>
                      </a:r>
                      <a:r>
                        <a:rPr lang="ko-KR" altLang="en-US" sz="1200" dirty="0"/>
                        <a:t>전반을 어렵다고 평가한 것은 아님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36876" marR="36876" marT="18438" marB="1843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09:58, 13:52–14:18</a:t>
                      </a:r>
                    </a:p>
                  </a:txBody>
                  <a:tcPr marL="36876" marR="36876" marT="18438" marB="1843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0281949"/>
                  </a:ext>
                </a:extLst>
              </a:tr>
              <a:tr h="683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Q6. </a:t>
                      </a:r>
                      <a:r>
                        <a:rPr lang="ko-KR" altLang="en-US" sz="1200" b="0" dirty="0"/>
                        <a:t>재사용 선호와 개선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적은 노력으로 과업을 진행할 수 있어 </a:t>
                      </a:r>
                      <a:r>
                        <a:rPr lang="en" sz="1200"/>
                        <a:t>A</a:t>
                      </a:r>
                      <a:r>
                        <a:rPr lang="ko-KR" altLang="en-US" sz="1200"/>
                        <a:t>를 선택함</a:t>
                      </a:r>
                      <a:r>
                        <a:rPr lang="en-US" altLang="ko-KR" sz="1200"/>
                        <a:t>. </a:t>
                      </a:r>
                      <a:r>
                        <a:rPr lang="en" sz="1200"/>
                        <a:t>B</a:t>
                      </a:r>
                      <a:r>
                        <a:rPr lang="ko-KR" altLang="en-US" sz="1200"/>
                        <a:t>의 선택지 다양성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분리수거의 물체 탐지 및 이동 방식 개선을 요구함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 marL="36876" marR="36876" marT="18438" marB="1843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/>
                        <a:t>상호작용 방식에 대한 선호와 로봇 자체의 실행 능력에 대한 요구</a:t>
                      </a:r>
                      <a:r>
                        <a:rPr lang="ko-KR" altLang="en-US" sz="1200"/>
                        <a:t>가 함께 나타남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 marL="36876" marR="36876" marT="18438" marB="1843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10:30–10:49, 15:12–18:42</a:t>
                      </a:r>
                    </a:p>
                  </a:txBody>
                  <a:tcPr marL="36876" marR="36876" marT="18438" marB="1843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7267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7823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3D110-75E2-A2EC-4702-53C1E5331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3F3443-C96A-A19F-107F-8E49610D1546}"/>
              </a:ext>
            </a:extLst>
          </p:cNvPr>
          <p:cNvSpPr txBox="1"/>
          <p:nvPr/>
        </p:nvSpPr>
        <p:spPr>
          <a:xfrm>
            <a:off x="425302" y="404037"/>
            <a:ext cx="14221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sz="1400" b="1" dirty="0">
                <a:latin typeface="+mj-ea"/>
                <a:ea typeface="+mj-ea"/>
              </a:rPr>
              <a:t>P</a:t>
            </a:r>
            <a:r>
              <a:rPr lang="en-US" altLang="ko-KR" sz="1400" b="1" dirty="0">
                <a:latin typeface="+mj-ea"/>
                <a:ea typeface="+mj-ea"/>
              </a:rPr>
              <a:t>5</a:t>
            </a:r>
            <a:r>
              <a:rPr lang="ko-KR" altLang="en-US" sz="1400" b="1" dirty="0">
                <a:latin typeface="+mj-ea"/>
                <a:ea typeface="+mj-ea"/>
              </a:rPr>
              <a:t> 주제별 분석</a:t>
            </a:r>
            <a:endParaRPr kumimoji="1" lang="ko-KR" altLang="en-US" sz="1400" b="1" dirty="0">
              <a:latin typeface="+mj-ea"/>
              <a:ea typeface="+mj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B7A4040-9C72-FEDF-68E7-5970F0DD27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001915"/>
              </p:ext>
            </p:extLst>
          </p:nvPr>
        </p:nvGraphicFramePr>
        <p:xfrm>
          <a:off x="425302" y="1096290"/>
          <a:ext cx="11197608" cy="45124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00940">
                  <a:extLst>
                    <a:ext uri="{9D8B030D-6E8A-4147-A177-3AD203B41FA5}">
                      <a16:colId xmlns:a16="http://schemas.microsoft.com/office/drawing/2014/main" val="3362588610"/>
                    </a:ext>
                  </a:extLst>
                </a:gridCol>
                <a:gridCol w="3397864">
                  <a:extLst>
                    <a:ext uri="{9D8B030D-6E8A-4147-A177-3AD203B41FA5}">
                      <a16:colId xmlns:a16="http://schemas.microsoft.com/office/drawing/2014/main" val="641337673"/>
                    </a:ext>
                  </a:extLst>
                </a:gridCol>
                <a:gridCol w="4013029">
                  <a:extLst>
                    <a:ext uri="{9D8B030D-6E8A-4147-A177-3AD203B41FA5}">
                      <a16:colId xmlns:a16="http://schemas.microsoft.com/office/drawing/2014/main" val="14377056"/>
                    </a:ext>
                  </a:extLst>
                </a:gridCol>
                <a:gridCol w="1585775">
                  <a:extLst>
                    <a:ext uri="{9D8B030D-6E8A-4147-A177-3AD203B41FA5}">
                      <a16:colId xmlns:a16="http://schemas.microsoft.com/office/drawing/2014/main" val="2720660445"/>
                    </a:ext>
                  </a:extLst>
                </a:gridCol>
              </a:tblGrid>
              <a:tr h="143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질문</a:t>
                      </a:r>
                    </a:p>
                  </a:txBody>
                  <a:tcPr marL="35961" marR="35961" marT="17981" marB="1798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주요 응답</a:t>
                      </a:r>
                    </a:p>
                  </a:txBody>
                  <a:tcPr marL="35961" marR="35961" marT="17981" marB="1798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분석 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 의미</a:t>
                      </a:r>
                    </a:p>
                  </a:txBody>
                  <a:tcPr marL="35961" marR="35961" marT="17981" marB="1798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b="1" dirty="0"/>
                    </a:p>
                  </a:txBody>
                  <a:tcPr marL="35961" marR="35961" marT="17981" marB="1798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3851138"/>
                  </a:ext>
                </a:extLst>
              </a:tr>
              <a:tr h="683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Q1. </a:t>
                      </a:r>
                      <a:r>
                        <a:rPr lang="ko-KR" altLang="en-US" sz="1200" b="0" dirty="0"/>
                        <a:t>가장 기억에 남는 차이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처음에는 </a:t>
                      </a:r>
                      <a:r>
                        <a:rPr lang="en" sz="1200" dirty="0"/>
                        <a:t>B</a:t>
                      </a:r>
                      <a:r>
                        <a:rPr lang="ko-KR" altLang="en-US" sz="1200" dirty="0"/>
                        <a:t>의 물리적 이동을 언급함</a:t>
                      </a:r>
                      <a:r>
                        <a:rPr lang="en-US" altLang="ko-KR" sz="1200" dirty="0"/>
                        <a:t>.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" sz="1200" dirty="0"/>
                        <a:t>A</a:t>
                      </a:r>
                      <a:r>
                        <a:rPr lang="ko-KR" altLang="en-US" sz="1200" dirty="0"/>
                        <a:t>는 맞는지 확인하고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" sz="1200" dirty="0"/>
                        <a:t>B</a:t>
                      </a:r>
                      <a:r>
                        <a:rPr lang="ko-KR" altLang="en-US" sz="1200" dirty="0"/>
                        <a:t>는 다음 행동을 지시하도록 요구한다고 설명함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37838" marR="37838" marT="18919" marB="18919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최초로 주목한 것은 </a:t>
                      </a:r>
                      <a:r>
                        <a:rPr lang="ko-KR" altLang="en-US" sz="1200" b="1"/>
                        <a:t>로봇의 움직임</a:t>
                      </a:r>
                      <a:r>
                        <a:rPr lang="ko-KR" altLang="en-US" sz="1200"/>
                        <a:t>이었고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추가 질문 이후 응답 방식의 차이를 설명함</a:t>
                      </a:r>
                      <a:r>
                        <a:rPr lang="en-US" altLang="ko-KR" sz="1200"/>
                        <a:t>. </a:t>
                      </a:r>
                      <a:r>
                        <a:rPr lang="ko-KR" altLang="en-US" sz="1200"/>
                        <a:t>두 내용을 구분해 기록해야 함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 marL="37838" marR="37838" marT="18919" marB="18919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00:37–01:41</a:t>
                      </a:r>
                    </a:p>
                  </a:txBody>
                  <a:tcPr marL="37838" marR="37838" marT="18919" marB="18919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3893581"/>
                  </a:ext>
                </a:extLst>
              </a:tr>
              <a:tr h="79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Q2. </a:t>
                      </a:r>
                      <a:r>
                        <a:rPr lang="ko-KR" altLang="en-US" sz="1200" b="0" dirty="0"/>
                        <a:t>답을 고르는 과정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카메라와 로봇이 보는 상황에 맞춰 응답하려고 함</a:t>
                      </a:r>
                      <a:r>
                        <a:rPr lang="en-US" altLang="ko-KR" sz="1200"/>
                        <a:t>. </a:t>
                      </a:r>
                      <a:r>
                        <a:rPr lang="ko-KR" altLang="en-US" sz="1200"/>
                        <a:t>분리수거에서는 물건 아래 가려진 물체도 테이블 위에 있다고 답해야 하는지 모호했음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 marL="37838" marR="37838" marT="18919" marB="1891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실제로 존재하는 것과 화면에서 보이는 것 중 무엇을 답해야 하는지</a:t>
                      </a:r>
                      <a:r>
                        <a:rPr lang="ko-KR" altLang="en-US" sz="1200" dirty="0"/>
                        <a:t>에 관한 판단 기준의 모호성이 나타남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37838" marR="37838" marT="18919" marB="1891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02:16–03:08</a:t>
                      </a:r>
                    </a:p>
                  </a:txBody>
                  <a:tcPr marL="37838" marR="37838" marT="18919" marB="1891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9540985"/>
                  </a:ext>
                </a:extLst>
              </a:tr>
              <a:tr h="683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Q3. </a:t>
                      </a:r>
                      <a:r>
                        <a:rPr lang="ko-KR" altLang="en-US" sz="1200" b="0" dirty="0"/>
                        <a:t>화면 정보와 선택지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제공된 정보는 대체로 충분하다고 평가함</a:t>
                      </a:r>
                      <a:r>
                        <a:rPr lang="en-US" altLang="ko-KR" sz="1200" dirty="0"/>
                        <a:t>. </a:t>
                      </a:r>
                      <a:r>
                        <a:rPr lang="en" sz="1200" dirty="0"/>
                        <a:t>B</a:t>
                      </a:r>
                      <a:r>
                        <a:rPr lang="ko-KR" altLang="en-US" sz="1200" dirty="0"/>
                        <a:t>에서는 직접 행동을 선택하거나 지시할 수 있다는 점을 긍정적으로 봄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37838" marR="37838" marT="18919" marB="1891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정보 부족보다 </a:t>
                      </a:r>
                      <a:r>
                        <a:rPr lang="ko-KR" altLang="en-US" sz="1200" b="1" dirty="0"/>
                        <a:t>응답 방식의 효율성과 표현 가능성</a:t>
                      </a:r>
                      <a:r>
                        <a:rPr lang="ko-KR" altLang="en-US" sz="1200" dirty="0"/>
                        <a:t>이 주요 평가 기준이었음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37838" marR="37838" marT="18919" marB="1891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06:43, 08:12, 10:44</a:t>
                      </a:r>
                    </a:p>
                  </a:txBody>
                  <a:tcPr marL="37838" marR="37838" marT="18919" marB="1891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979296"/>
                  </a:ext>
                </a:extLst>
              </a:tr>
              <a:tr h="683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Q4. </a:t>
                      </a:r>
                      <a:r>
                        <a:rPr lang="ko-KR" altLang="en-US" sz="1200" b="0" dirty="0"/>
                        <a:t>질문 시점과 반복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질문 시점은 적절하다고 평가함</a:t>
                      </a:r>
                      <a:r>
                        <a:rPr lang="en-US" altLang="ko-KR" sz="1200"/>
                        <a:t>. </a:t>
                      </a:r>
                      <a:r>
                        <a:rPr lang="en" sz="1200"/>
                        <a:t>B</a:t>
                      </a:r>
                      <a:r>
                        <a:rPr lang="ko-KR" altLang="en-US" sz="1200"/>
                        <a:t>에서 다른 줄기로 이동한 뒤 이전 줄기의 토마토를 질문한 것으로 회상함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 marL="37838" marR="37838" marT="18919" marB="1891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1" dirty="0">
                          <a:solidFill>
                            <a:srgbClr val="0000FF"/>
                          </a:solidFill>
                        </a:rPr>
                        <a:t>A</a:t>
                      </a:r>
                      <a:r>
                        <a:rPr lang="ko-KR" altLang="en-US" sz="1200" b="1" dirty="0">
                          <a:solidFill>
                            <a:srgbClr val="0000FF"/>
                          </a:solidFill>
                        </a:rPr>
                        <a:t>의 시점 적절성</a:t>
                      </a:r>
                      <a:r>
                        <a:rPr lang="en-US" altLang="ko-KR" sz="1200" b="1" dirty="0">
                          <a:solidFill>
                            <a:srgbClr val="0000FF"/>
                          </a:solidFill>
                        </a:rPr>
                        <a:t>, </a:t>
                      </a:r>
                      <a:r>
                        <a:rPr lang="ko-KR" altLang="en-US" sz="1200" b="1" dirty="0">
                          <a:solidFill>
                            <a:srgbClr val="0000FF"/>
                          </a:solidFill>
                        </a:rPr>
                        <a:t>질문 내용의 현재 상황 적합성</a:t>
                      </a:r>
                      <a:endParaRPr lang="en-US" altLang="ko-KR" sz="1200" dirty="0">
                        <a:solidFill>
                          <a:srgbClr val="0000FF"/>
                        </a:solidFill>
                      </a:endParaRPr>
                    </a:p>
                  </a:txBody>
                  <a:tcPr marL="37838" marR="37838" marT="18919" marB="1891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09:00–09:54</a:t>
                      </a:r>
                    </a:p>
                  </a:txBody>
                  <a:tcPr marL="37838" marR="37838" marT="18919" marB="1891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9545346"/>
                  </a:ext>
                </a:extLst>
              </a:tr>
              <a:tr h="683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Q5. </a:t>
                      </a:r>
                      <a:r>
                        <a:rPr lang="ko-KR" altLang="en-US" sz="1200" b="0" dirty="0"/>
                        <a:t>수고와 작업 진행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/>
                        <a:t>A</a:t>
                      </a:r>
                      <a:r>
                        <a:rPr lang="ko-KR" altLang="en-US" sz="1200"/>
                        <a:t>는 반복해서 눌러야 하는 횟수가 많았음</a:t>
                      </a:r>
                      <a:r>
                        <a:rPr lang="en-US" altLang="ko-KR" sz="1200"/>
                        <a:t>. </a:t>
                      </a:r>
                      <a:r>
                        <a:rPr lang="en" sz="1200"/>
                        <a:t>B</a:t>
                      </a:r>
                      <a:r>
                        <a:rPr lang="ko-KR" altLang="en-US" sz="1200"/>
                        <a:t>는 해결책을 하나 제시하면 움직여 더 편리했다고 설명함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 marL="37838" marR="37838" marT="18919" marB="1891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dirty="0"/>
                        <a:t>P5</a:t>
                      </a:r>
                      <a:r>
                        <a:rPr lang="ko-KR" altLang="en-US" sz="1200" dirty="0"/>
                        <a:t>는 </a:t>
                      </a:r>
                      <a:r>
                        <a:rPr lang="ko-KR" altLang="en-US" sz="1200" b="1" dirty="0"/>
                        <a:t>개별 질문의 단순성보다 전체 개입 과정의 번거로움</a:t>
                      </a:r>
                      <a:r>
                        <a:rPr lang="ko-KR" altLang="en-US" sz="1200" dirty="0"/>
                        <a:t>을 중요하게 평가함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37838" marR="37838" marT="18919" marB="1891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05:00, 10:34–10:44</a:t>
                      </a:r>
                    </a:p>
                  </a:txBody>
                  <a:tcPr marL="37838" marR="37838" marT="18919" marB="1891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0281949"/>
                  </a:ext>
                </a:extLst>
              </a:tr>
              <a:tr h="683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dirty="0"/>
                        <a:t>Q6. </a:t>
                      </a:r>
                      <a:r>
                        <a:rPr lang="ko-KR" altLang="en-US" sz="1200" b="0" dirty="0"/>
                        <a:t>재사용 선호와 개선</a:t>
                      </a:r>
                    </a:p>
                  </a:txBody>
                  <a:tcPr marL="35961" marR="35961" marT="17981" marB="1798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/>
                        <a:t>B</a:t>
                      </a:r>
                      <a:r>
                        <a:rPr lang="ko-KR" altLang="en-US" sz="1200"/>
                        <a:t>의 직접 지시가 예외 상황에 유용할 수 있다고 봄</a:t>
                      </a:r>
                      <a:r>
                        <a:rPr lang="en-US" altLang="ko-KR" sz="1200"/>
                        <a:t>. </a:t>
                      </a:r>
                      <a:r>
                        <a:rPr lang="en" sz="1200"/>
                        <a:t>A</a:t>
                      </a:r>
                      <a:r>
                        <a:rPr lang="ko-KR" altLang="en-US" sz="1200"/>
                        <a:t>의 예</a:t>
                      </a:r>
                      <a:r>
                        <a:rPr lang="en-US" altLang="ko-KR" sz="1200"/>
                        <a:t>/</a:t>
                      </a:r>
                      <a:r>
                        <a:rPr lang="ko-KR" altLang="en-US" sz="1200"/>
                        <a:t>아니요 방식도 단순하다는 장점을 인정함</a:t>
                      </a:r>
                      <a:r>
                        <a:rPr lang="en-US" altLang="ko-KR" sz="1200"/>
                        <a:t>. </a:t>
                      </a:r>
                      <a:r>
                        <a:rPr lang="ko-KR" altLang="en-US" sz="1200"/>
                        <a:t>로봇의 더 조심스러운 물리적 움직임을 원함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 marL="37838" marR="37838" marT="18919" marB="1891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dirty="0"/>
                        <a:t>B</a:t>
                      </a:r>
                      <a:r>
                        <a:rPr lang="ko-KR" altLang="en-US" sz="1200" dirty="0"/>
                        <a:t>의 장점은 </a:t>
                      </a:r>
                      <a:r>
                        <a:rPr lang="ko-KR" altLang="en-US" sz="1200" b="1" dirty="0"/>
                        <a:t>상황에 맞는 해결책을 전달할 수 있다는 점</a:t>
                      </a:r>
                      <a:r>
                        <a:rPr lang="ko-KR" altLang="en-US" sz="1200" dirty="0"/>
                        <a:t>임</a:t>
                      </a:r>
                      <a:r>
                        <a:rPr lang="en-US" altLang="ko-KR" sz="1200" dirty="0"/>
                        <a:t>. </a:t>
                      </a:r>
                      <a:r>
                        <a:rPr lang="ko-KR" altLang="en-US" sz="1200" dirty="0"/>
                        <a:t>개선 요구는 질문 추가보다 동작의 섬세함에 가까움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37838" marR="37838" marT="18919" marB="1891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11:56–12:37, 14:14–15:22</a:t>
                      </a:r>
                    </a:p>
                  </a:txBody>
                  <a:tcPr marL="37838" marR="37838" marT="18919" marB="1891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7267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8691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1588</Words>
  <Application>Microsoft Macintosh PowerPoint</Application>
  <PresentationFormat>와이드스크린</PresentationFormat>
  <Paragraphs>154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류가영</dc:creator>
  <cp:lastModifiedBy>류가영</cp:lastModifiedBy>
  <cp:revision>2</cp:revision>
  <dcterms:created xsi:type="dcterms:W3CDTF">2026-10-16T04:32:51Z</dcterms:created>
  <dcterms:modified xsi:type="dcterms:W3CDTF">2026-10-16T07:28:46Z</dcterms:modified>
</cp:coreProperties>
</file>