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0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96" r:id="rId2"/>
    <p:sldId id="297" r:id="rId3"/>
    <p:sldId id="298" r:id="rId4"/>
    <p:sldId id="299" r:id="rId5"/>
    <p:sldId id="303" r:id="rId6"/>
    <p:sldId id="302" r:id="rId7"/>
    <p:sldId id="301" r:id="rId8"/>
    <p:sldId id="300" r:id="rId9"/>
    <p:sldId id="304" r:id="rId10"/>
    <p:sldId id="305" r:id="rId11"/>
    <p:sldId id="306" r:id="rId12"/>
    <p:sldId id="307" r:id="rId13"/>
    <p:sldId id="308" r:id="rId19"/>
    <p:sldId id="309" r:id="rId20"/>
    <p:sldId id="310" r:id="rId21"/>
    <p:sldId id="311" r:id="rId22"/>
    <p:sldId id="312" r:id="rId23"/>
    <p:sldId id="313" r:id="rId2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FF4"/>
    <a:srgbClr val="97B18F"/>
    <a:srgbClr val="EDF3EA"/>
    <a:srgbClr val="DFECD6"/>
    <a:srgbClr val="7990BD"/>
    <a:srgbClr val="E6EDF9"/>
    <a:srgbClr val="D9D9D9"/>
    <a:srgbClr val="E9EEF1"/>
    <a:srgbClr val="0432FF"/>
    <a:srgbClr val="EEC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5921" autoAdjust="0"/>
  </p:normalViewPr>
  <p:slideViewPr>
    <p:cSldViewPr snapToGrid="0" snapToObjects="1">
      <p:cViewPr varScale="1">
        <p:scale>
          <a:sx n="99" d="100"/>
          <a:sy n="99" d="100"/>
        </p:scale>
        <p:origin x="1194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19" Type="http://schemas.openxmlformats.org/officeDocument/2006/relationships/slide" Target="slides/slide13.xml" /><Relationship Id="rId20" Type="http://schemas.openxmlformats.org/officeDocument/2006/relationships/slide" Target="slides/slide14.xml" /><Relationship Id="rId21" Type="http://schemas.openxmlformats.org/officeDocument/2006/relationships/slide" Target="slides/slide15.xml" /><Relationship Id="rId22" Type="http://schemas.openxmlformats.org/officeDocument/2006/relationships/slide" Target="slides/slide16.xml" /><Relationship Id="rId23" Type="http://schemas.openxmlformats.org/officeDocument/2006/relationships/slide" Target="slides/slide17.xml" /><Relationship Id="rId24" Type="http://schemas.openxmlformats.org/officeDocument/2006/relationships/slide" Target="slides/slide1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908A5-6664-0F4E-911C-BB4E9AE1C58E}" type="datetimeFigureOut">
              <a:rPr lang="en-KR" smtClean="0"/>
              <a:t>06/29/2026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4C848-1A56-A849-A0F3-8236FFA0EA1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172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안녕하세요</a:t>
            </a:r>
            <a:r>
              <a:rPr kumimoji="1" lang="en-US" altLang="ko-KR" dirty="0"/>
              <a:t>, </a:t>
            </a:r>
            <a:r>
              <a:rPr kumimoji="1" lang="ko-KR" altLang="en-US" dirty="0"/>
              <a:t>발표 시작하도록 하겠습니다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4C848-1A56-A849-A0F3-8236FFA0EA17}" type="slidenum">
              <a:rPr lang="en-KR" smtClean="0"/>
              <a:t>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6108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7934-6B5C-D643-9EF6-B7B9C5AC2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58826-8570-024B-9CDC-0F8F235E4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66D9-F4E8-F84F-B401-0E12F4A2F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D8049-267D-E241-9827-873FAA57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A1448-EDC9-B14C-AB5B-F3B61D5A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2346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3889-2867-2D4C-8761-9B4EA073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1" y="247896"/>
            <a:ext cx="11290851" cy="598970"/>
          </a:xfrm>
        </p:spPr>
        <p:txBody>
          <a:bodyPr>
            <a:normAutofit/>
          </a:bodyPr>
          <a:lstStyle>
            <a:lvl1pPr algn="ctr">
              <a:defRPr sz="3600" b="1" i="0">
                <a:latin typeface="Arial" panose="020B0604020202020204" pitchFamily="34" charset="0"/>
                <a:ea typeface="NanumSquare ExtraBold" panose="020B0600000101010101" pitchFamily="34" charset="-127"/>
              </a:defRPr>
            </a:lvl1pPr>
          </a:lstStyle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22C9-FC46-F44C-A3CD-5462461AA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1" y="1033670"/>
            <a:ext cx="11290852" cy="5322680"/>
          </a:xfrm>
        </p:spPr>
        <p:txBody>
          <a:bodyPr/>
          <a:lstStyle>
            <a:lvl1pPr>
              <a:lnSpc>
                <a:spcPct val="110000"/>
              </a:lnSpc>
              <a:defRPr sz="2000" b="0" i="0">
                <a:latin typeface="Arial" panose="020B0604020202020204" pitchFamily="34" charset="0"/>
                <a:ea typeface="NanumSquare Bold" panose="020B0600000101010101" pitchFamily="34" charset="-127"/>
              </a:defRPr>
            </a:lvl1pPr>
            <a:lvl2pPr marL="469800">
              <a:lnSpc>
                <a:spcPct val="110000"/>
              </a:lnSpc>
              <a:defRPr sz="2000" b="0" i="0">
                <a:latin typeface="Arial" panose="020B0604020202020204" pitchFamily="34" charset="0"/>
                <a:ea typeface="NanumSquare Bold" panose="020B0600000101010101" pitchFamily="34" charset="-127"/>
              </a:defRPr>
            </a:lvl2pPr>
            <a:lvl3pPr marL="720000">
              <a:lnSpc>
                <a:spcPct val="110000"/>
              </a:lnSpc>
              <a:defRPr b="0" i="0">
                <a:latin typeface="Arial" panose="020B0604020202020204" pitchFamily="34" charset="0"/>
                <a:ea typeface="NanumSquare Bold" panose="020B0600000101010101" pitchFamily="34" charset="-127"/>
              </a:defRPr>
            </a:lvl3pPr>
            <a:lvl4pPr marL="972000">
              <a:lnSpc>
                <a:spcPct val="110000"/>
              </a:lnSpc>
              <a:defRPr b="0" i="0">
                <a:latin typeface="Arial" panose="020B0604020202020204" pitchFamily="34" charset="0"/>
                <a:ea typeface="NanumSquare Bold" panose="020B0600000101010101" pitchFamily="34" charset="-127"/>
              </a:defRPr>
            </a:lvl4pPr>
            <a:lvl5pPr marL="1224000">
              <a:lnSpc>
                <a:spcPct val="110000"/>
              </a:lnSpc>
              <a:defRPr b="0" i="0">
                <a:latin typeface="Arial" panose="020B0604020202020204" pitchFamily="34" charset="0"/>
                <a:ea typeface="NanumSquare Bold" panose="020B0600000101010101" pitchFamily="34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F52C7-EC26-9E4B-B270-54F659C1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rial" panose="020B0604020202020204" pitchFamily="34" charset="0"/>
                <a:ea typeface="NanumSquare Bold" panose="020B0600000101010101" pitchFamily="34" charset="-127"/>
              </a:defRPr>
            </a:lvl1pPr>
          </a:lstStyle>
          <a:p>
            <a:fld id="{A2512EFC-1D2F-0B43-B72E-5E8C8362880E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8EAA3-8E9F-4141-99CC-8F420E18B641}"/>
              </a:ext>
            </a:extLst>
          </p:cNvPr>
          <p:cNvSpPr txBox="1"/>
          <p:nvPr userDrawn="1"/>
        </p:nvSpPr>
        <p:spPr>
          <a:xfrm>
            <a:off x="4083269" y="6503763"/>
            <a:ext cx="4025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NanumSquare Light" panose="020B0600000101010101" pitchFamily="34" charset="-127"/>
              </a:rPr>
              <a:t>AI Robotics Lab</a:t>
            </a:r>
            <a:endParaRPr lang="en-KR" sz="1400" b="1" i="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NanumSquare Light" panose="020B0600000101010101" pitchFamily="34" charset="-127"/>
            </a:endParaRPr>
          </a:p>
        </p:txBody>
      </p:sp>
      <p:pic>
        <p:nvPicPr>
          <p:cNvPr id="7" name="Picture 6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27021B20-C4F7-64A7-479C-1E69712307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392" y="6503763"/>
            <a:ext cx="876541" cy="3077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E19BF3-0799-BD72-F2FD-BB2EECE48305}"/>
              </a:ext>
            </a:extLst>
          </p:cNvPr>
          <p:cNvCxnSpPr/>
          <p:nvPr userDrawn="1"/>
        </p:nvCxnSpPr>
        <p:spPr>
          <a:xfrm>
            <a:off x="945811" y="6493183"/>
            <a:ext cx="0" cy="32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6BB3F2F-04E7-0F27-687F-DA208DEBBF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055" y="6464006"/>
            <a:ext cx="1346200" cy="431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1094A3-33E7-B22F-EBFB-9ABFE23084B9}"/>
              </a:ext>
            </a:extLst>
          </p:cNvPr>
          <p:cNvSpPr txBox="1"/>
          <p:nvPr userDrawn="1"/>
        </p:nvSpPr>
        <p:spPr>
          <a:xfrm>
            <a:off x="5102086" y="-39737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Dummy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BB5A5-D322-A2F4-C16D-9DF0B0E336BD}"/>
              </a:ext>
            </a:extLst>
          </p:cNvPr>
          <p:cNvSpPr txBox="1"/>
          <p:nvPr userDrawn="1"/>
        </p:nvSpPr>
        <p:spPr>
          <a:xfrm>
            <a:off x="-7089914" y="30596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Dummy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BE80B-4CCD-0B4B-FA3C-249C4ECAF234}"/>
              </a:ext>
            </a:extLst>
          </p:cNvPr>
          <p:cNvSpPr txBox="1"/>
          <p:nvPr userDrawn="1"/>
        </p:nvSpPr>
        <p:spPr>
          <a:xfrm>
            <a:off x="5521186" y="989861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Dummy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668D8-309F-159D-95A5-AB39AB0C4DC2}"/>
              </a:ext>
            </a:extLst>
          </p:cNvPr>
          <p:cNvSpPr txBox="1"/>
          <p:nvPr userDrawn="1"/>
        </p:nvSpPr>
        <p:spPr>
          <a:xfrm>
            <a:off x="16913086" y="360045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Dummy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727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7B1-7C4E-564D-8AF6-8CAA5049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5EEEA-5AE5-1647-992D-258DBD488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A9B2A-06D4-DC4F-A139-C6776577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D9B2-7AD2-CB42-A2A4-139A9D2C9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8950-F6B7-4047-9D13-7E6A0D97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721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C74C-EC81-8748-9468-93E70C1B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7DA56-CF60-9C4F-BD63-95E1A8235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289C9-CAFA-1441-9223-9E699DBD3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F2356-C436-9A46-A520-802A3C7B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3EA05-E345-0B4B-9F4F-604A8299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411ED-0B7A-4742-88E0-09E9A2B6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5377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E8B5-1336-C543-BCDB-A8B33CC0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EFDCB-1048-E246-9E6C-7ADA223A5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B7842-0472-FA43-8FD5-0EFC4E503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F2D6E-5D82-2141-A582-BC46F742E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AAF64-DA2D-5C49-BC39-C1B67E5AA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9F789-BB91-5241-9C10-BB87A5A8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377A70-4A51-AE44-92AE-0A205D93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751817-2A59-0E4D-B65E-230BE293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6019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314AE-6779-284B-ABB8-BAA09504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5DB70-EA78-1746-A46D-0E31A6A43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37B56E-51A2-0A43-9903-5310FD07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A7125-4C05-B742-878C-D3DB7524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5483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AB1AF-9C6B-A042-853B-A156F19EF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9F5C7-07F5-EE47-96AC-C9BBDE9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B944F-353A-FD49-BABD-681454943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570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8B34-A69C-EA4B-957A-AF21E71F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6331-28E3-FF4E-9F6B-302E71B9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DCFC9-A7C4-1042-9912-63F9B586D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68529-33CF-2B42-870E-601BFE88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C0186-BF6F-D149-BE64-7F212224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E11F5-C0BA-9E44-BC35-2093BC034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109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1080-DFB8-E24B-8277-B8C30EFF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40BD05-0844-B844-B9FE-9EFF4C4E9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8124C-32AB-1C40-BF6E-D1C506DA1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1300C-FFA2-BC49-9C73-9E5211D84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2FAA2-2864-D947-B7FC-DA77D5CD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545CA-82A3-AF4E-8091-1C48F461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0002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32D4-A727-7F49-BE43-DACDF07E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E9B5C-67DE-8D45-B8A3-2A9A1A2BB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C58B1-9721-8C49-98D0-D56CF855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0E6B5-2DE3-4349-94BC-7EBE1229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41DBC-BF36-7749-B0D7-42AFABAE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7506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BB941-95D8-2B4A-B45D-C3A0E796D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69897-CA40-734C-9256-2F89EB4AB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AE6C8-B4CB-534E-8D5B-D1C6A662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BE3CD-9C34-DD41-A421-0E867A00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AC0A3-604D-124E-8E8B-4E59CF06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5003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0791B-EE4E-B542-B12D-09848657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A5C2F-4A13-CD4C-AA11-D874ADEDB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A5FE0-D4FE-1B45-B51C-277CA4475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4913C-6925-B145-9402-D72F8C891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46F68-73F4-4140-879C-3C714A544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12EFC-1D2F-0B43-B72E-5E8C8362880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2980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0CB1C3C4-E8EC-974F-8E0E-66491DD88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910" y="1565973"/>
            <a:ext cx="11190181" cy="7973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BRL CF 논문 방향성</a:t>
            </a:r>
          </a:p>
        </p:txBody>
      </p:sp>
      <p:sp>
        <p:nvSpPr>
          <p:cNvPr id="3" name="Subtitle 2">
            <a:extLst>
              <a:ext uri="{FF2B5EF4-FFF2-40B4-BE49-F238E27FC236}">
                <ns2:creationId id="{DC0BDA32-EE3C-4342-8372-0BDC6973B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11669"/>
            <a:ext cx="9144000" cy="180777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ko-KR" sz="2200">
                <a:latin typeface="Aptos"/>
                <a:ea typeface="맑은 고딕"/>
              </a:rPr>
              <a:t>POMDP planning + mismatch-based feedback trigger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F933867B-FB1A-D941-8668-006D56AED78F}"/>
              </a:ext>
            </a:extLst>
          </p:cNvPr>
          <p:cNvSpPr txBox="1">
            <a:spLocks noChangeArrowheads="1"/>
          </p:cNvSpPr>
          <p:nvPr/>
        </p:nvSpPr>
        <p:spPr>
          <a:xfrm>
            <a:off x="5332850" y="5382491"/>
            <a:ext cx="5335149" cy="797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ko-KR" sz="1400">
                <a:latin typeface="Aptos"/>
                <a:ea typeface="맑은 고딕"/>
              </a:rPr>
              <a:t>Changmin Park / AI Robotics Lab, Sogang University</a:t>
            </a:r>
          </a:p>
        </p:txBody>
      </p:sp>
      <p:pic>
        <p:nvPicPr>
          <p:cNvPr id="17" name="Picture 16">
            <a:extLst>
              <a:ext uri="{FF2B5EF4-FFF2-40B4-BE49-F238E27FC236}">
                <ns2:creationId id="{ADBBAD43-5D31-A93D-3AB5-F66FA4E22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99" y="4971941"/>
            <a:ext cx="927921" cy="1207853"/>
          </a:xfrm>
          <a:prstGeom prst="rect">
            <a:avLst/>
          </a:prstGeom>
        </p:spPr>
      </p:pic>
    </p:spTree>
    <p:extLst>
      <p:ext uri="{BB962C8B-B14F-4D97-AF65-F5344CB8AC3E}">
        <ns4:creationId val="310928058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3E1399D3-0EFF-BB34-FD1A-D87D5AB67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현재 상황: 기존 유저 스터디의 한계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4783D1B8-5820-F058-239E-E2DCB5E2D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N=12, 도메인별 5조건, 총 10조건 수행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참가자는 3~4분 로봇 영상을 보며 계속 행동 적절성을 확인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조건별 fatigue / workload 차이가 명확하지 않음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Ours1, Ours2 차이가 해석을 복잡하게 만듦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핵심 문제는 표본 수만이 아니라 실험 과제가 시스템 취지와 어긋난 점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따라서 기존 데이터를 그대로 밀기보다 claim, task, condition을 다시 맞춰야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B9CB3F99-5716-81D0-5709-5AE96AD02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</a:t>
            </a:r>
          </a:p>
        </p:txBody>
      </p:sp>
    </p:spTree>
    <p:extLst>
      <p:ext uri="{BB962C8B-B14F-4D97-AF65-F5344CB8AC3E}">
        <ns3:creationId val="413617230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88F7B987-7D26-147D-422F-763D49CAF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핵심 문제 정의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DA7851EC-ECFF-C12C-A1E5-B66BFD85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시스템 목적: 사용자가 계속 감시하는 것이 아니라 필요한 순간에만 feedback 요청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기존 과제는 '상시 감시'를 요구해 interruption / feedback efficiency를 보기 어려움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일부 데이터 오염 가능성, N=6 재분석에서도 명확한 결론 부족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따라서 단순 확장보다 claim과 실험 설계를 다시 맞추는 것이 필요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새 실험은 workload 일반론보다 '주 작업 중 feedback request의 방해와 효율'에 초점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E003A1D8-1781-501A-8016-4E9FC3A8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2</a:t>
            </a:r>
          </a:p>
        </p:txBody>
      </p:sp>
    </p:spTree>
    <p:extLst>
      <p:ext uri="{BB962C8B-B14F-4D97-AF65-F5344CB8AC3E}">
        <ns3:creationId val="223955253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ns2:creationId id="{B71D28FB-8B9D-AB23-95FD-0955BC3B494F}"/>
              </a:ext>
            </a:extLst>
          </p:cNvPr>
          <p:cNvSpPr>
            <a:spLocks/>
          </p:cNvSpPr>
          <p:nvPr/>
        </p:nvSpPr>
        <p:spPr>
          <a:xfrm>
            <a:off x="7089808" y="1404800"/>
            <a:ext cx="3041583" cy="2983832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ns2:creationId id="{C81F5997-1E0F-B520-3960-10D6C4D4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논문 전략 판단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B3AABA3D-4A23-4218-0A22-33096BA2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3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ns2:creationId id="{F3A0C35D-0D46-294D-3B22-6FCD18B7EFED}"/>
              </a:ext>
            </a:extLst>
          </p:cNvPr>
          <p:cNvSpPr/>
          <p:nvPr/>
        </p:nvSpPr>
        <p:spPr>
          <a:xfrm>
            <a:off x="3628724" y="1606773"/>
            <a:ext cx="2646948" cy="1205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분리 전략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시스템 기여 1편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ns2:creationId id="{7F955FE2-401B-5107-AC23-547F1730A26C}"/>
              </a:ext>
            </a:extLst>
          </p:cNvPr>
          <p:cNvSpPr/>
          <p:nvPr/>
        </p:nvSpPr>
        <p:spPr>
          <a:xfrm>
            <a:off x="3628724" y="2983343"/>
            <a:ext cx="2646948" cy="1205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후속 전략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HRI 기여 1편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N&gt;=30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ns2:creationId id="{DEB24340-AD50-9733-B422-9F7B2CF910F5}"/>
              </a:ext>
            </a:extLst>
          </p:cNvPr>
          <p:cNvSpPr/>
          <p:nvPr/>
        </p:nvSpPr>
        <p:spPr>
          <a:xfrm>
            <a:off x="7287126" y="1606773"/>
            <a:ext cx="2646948" cy="1205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위험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human evidence 약함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후속 논문 독립성 약함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ns2:creationId id="{52A4C222-4C46-B14B-C2C3-543D09BF4702}"/>
              </a:ext>
            </a:extLst>
          </p:cNvPr>
          <p:cNvSpPr/>
          <p:nvPr/>
        </p:nvSpPr>
        <p:spPr>
          <a:xfrm>
            <a:off x="7287126" y="2983343"/>
            <a:ext cx="2646948" cy="1205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권장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시스템 + simulation</a:t>
            </a:r>
          </a:p>
          <a:p>
            <a:pPr>
              <a:buNone/>
            </a:pPr>
            <a:r>
              <a:rPr lang="ko-KR" sz="1700">
                <a:latin typeface="Aptos"/>
                <a:ea typeface="맑은 고딕"/>
              </a:rPr>
              <a:t>+ N=30 user study 통합</a:t>
            </a:r>
          </a:p>
        </p:txBody>
      </p:sp>
      <p:graphicFrame>
        <p:nvGraphicFramePr>
          <p:cNvPr id="12" name="표 11">
            <a:extLst>
              <a:ext uri="{FF2B5EF4-FFF2-40B4-BE49-F238E27FC236}">
                <ns2:creationId id="{D94EEFF7-C758-BA6D-929F-8B71BDDE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94628967"/>
              </p:ext>
            </p:extLst>
          </p:nvPr>
        </p:nvGraphicFramePr>
        <p:xfrm>
          <a:off x="1396732" y="4603750"/>
          <a:ext cx="957606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59">
                  <a:extLst>
                    <a:ext uri="{9D8B030D-6E8A-4147-A177-3AD203B41FA5}">
                      <ns2:colId val="2110485444"/>
                    </a:ext>
                  </a:extLst>
                </a:gridCol>
                <a:gridCol w="3570972">
                  <a:extLst>
                    <a:ext uri="{9D8B030D-6E8A-4147-A177-3AD203B41FA5}">
                      <ns2:colId val="4034622249"/>
                    </a:ext>
                  </a:extLst>
                </a:gridCol>
                <a:gridCol w="4090738">
                  <a:extLst>
                    <a:ext uri="{9D8B030D-6E8A-4147-A177-3AD203B41FA5}">
                      <ns2:colId val="3468058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ns2:rowId val="3766190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빠르게 끊어가기</a:t>
                      </a:r>
                      <a:r>
                        <a:rPr lang="en-US" altLang="ko-KR" dirty="0"/>
                        <a:t>, 2</a:t>
                      </a:r>
                      <a:r>
                        <a:rPr lang="ko-KR" altLang="en-US" dirty="0"/>
                        <a:t>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하던대로</a:t>
                      </a:r>
                      <a:r>
                        <a:rPr lang="ko-KR" altLang="en-US" dirty="0"/>
                        <a:t> 하면 됨</a:t>
                      </a:r>
                    </a:p>
                  </a:txBody>
                  <a:tcPr/>
                </a:tc>
                <a:extLst>
                  <a:ext uri="{0D108BD9-81ED-4DB2-BD59-A6C34878D82A}">
                    <ns2:rowId val="3014242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단점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시스템 추가 실험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반쪽짜리 논문 </a:t>
                      </a:r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한 편이 나오기까지 늘어짐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236386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목표 저널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AR, TR-O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T-HRI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ns2:rowId val="3232938613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802917089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405318EF-7DE3-7FE8-E498-CC8563734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시스템의 핵심 정체성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7D7CC398-1995-8AAF-EB01-C66F8FCC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로봇은 task 수행을 위한 state, knowledge, transition model을 가짐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실제 observation이 transition model의 예측 분포와 다르면 mismatch를 감지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질문 이유는 단순 uncertainty가 아니라 '예상한 세계'와 '관측된 세계'의 불일치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Feedback은 belief / knowledge update로 들어가고 replanning에 반영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핵심은 사람을 planner의 외부 oracle로 쓰는 것이 아니라 closed-loop correction source로 쓰는 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3ED2BE15-C74F-ECBC-6EE4-8FE37EC8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4</a:t>
            </a:r>
          </a:p>
        </p:txBody>
      </p:sp>
    </p:spTree>
    <p:extLst>
      <p:ext uri="{BB962C8B-B14F-4D97-AF65-F5344CB8AC3E}">
        <ns3:creationId val="284273343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F84DB9D8-54C0-4755-BF72-73775EE14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1F060E26-BACF-F23B-CD68-6543EA06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Proposed Loop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20FB6444-E457-F379-B0A7-5E8E4A43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POMDP planning -&gt; action execution -&gt; observation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belief / uncertainty update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observation-transition mismatch 또는 uncertainty threshold check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human feedback request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knowledge / belief update -&gt; replanning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질문을 POMDP action space에 넣기보다 별도 trigger layer로 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B390D7C4-89B6-C2E1-42C6-632797B6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5</a:t>
            </a:r>
          </a:p>
        </p:txBody>
      </p:sp>
    </p:spTree>
    <p:extLst>
      <p:ext uri="{BB962C8B-B14F-4D97-AF65-F5344CB8AC3E}">
        <ns3:creationId val="444591695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3141156-7B85-3520-2DAF-86AF0695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8E9319EA-4213-426E-38C4-429784AA9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KnowNo와의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AE75ACB8-9DAC-6A1A-7ED8-0BBCFB0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KnowNo: action-level uncertainty</a:t>
            </a:r>
          </a:p>
          <a:p>
            <a:pPr lvl="1">
              <a:buChar char="•"/>
            </a:pPr>
            <a:r>
              <a:rPr lang="ko-KR" sz="1850">
                <a:latin typeface="Aptos"/>
                <a:ea typeface="맑은 고딕"/>
              </a:rPr>
              <a:t>'지금 어떤 action을 해야 하는가?'가 불확실할 때 도움 요청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Ours: state / knowledge-level uncertainty</a:t>
            </a:r>
          </a:p>
          <a:p>
            <a:pPr lvl="1">
              <a:buChar char="•"/>
            </a:pPr>
            <a:r>
              <a:rPr lang="ko-KR" sz="1850">
                <a:latin typeface="Aptos"/>
                <a:ea typeface="맑은 고딕"/>
              </a:rPr>
              <a:t>'내가 가진 상태나 지식 중 무엇이 실제 세계와 맞지 않는가?'를 확인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한 번의 feedback이 현재 action뿐 아니라 이후 여러 planning step에 재사용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A73D6894-FB97-25B0-8E7A-5A73494D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6</a:t>
            </a:r>
          </a:p>
        </p:txBody>
      </p:sp>
    </p:spTree>
    <p:extLst>
      <p:ext uri="{BB962C8B-B14F-4D97-AF65-F5344CB8AC3E}">
        <ns3:creationId val="3054578079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B03AD18E-1FF0-6EB7-1B6C-2043228A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가능한 Contribution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5444870D-3B9C-F6A3-DCD4-AC582129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POMDP planning과 feedback trigger의 결합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Observation-transition mismatch 기반 질문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State / knowledge-level feedback으로 action-level baseline과 구분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Human feedback을 belief / knowledge update에 반영하는 closed-loop replanning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Oracle / noisy / biased feedback 조건에서 robustness 평가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B4197276-4FEF-5C3D-1A50-82E9325C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7</a:t>
            </a:r>
          </a:p>
        </p:txBody>
      </p:sp>
    </p:spTree>
    <p:extLst>
      <p:ext uri="{BB962C8B-B14F-4D97-AF65-F5344CB8AC3E}">
        <ns3:creationId val="361887306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D85647A4-DFA4-1D37-319E-7032C5E9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새 N=30 유저 스터디 방향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7A0832C9-5DB3-EBCE-3CCB-7B9A310AD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조건을 5개에서 3개로 축소: All vs Ours vs KnowNo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Main task 수행 중 tablet feedback이 sub task로 interrupt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기존 '동영상 감시'가 아니라 system-initiated feedback의 방해와 효율을 측정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Ours1/Ours2 차이는 user study보다 simulation / ablation에서 다루는 편이 적절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N=30은 단순히 power를 키우는 것이 아니라 재설계된 HRI claim을 검증하는 핵심 평가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3AA5ABC0-9681-A21B-AB9E-5B009C94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8</a:t>
            </a:r>
          </a:p>
        </p:txBody>
      </p:sp>
    </p:spTree>
    <p:extLst>
      <p:ext uri="{BB962C8B-B14F-4D97-AF65-F5344CB8AC3E}">
        <ns3:creationId val="676909530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33299B1C-47CD-FA35-D721-EAF862F1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새 Claim과 측정값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FE8085EC-2A4F-2472-D12B-5BC7B4271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Claim: 사용자의 주 작업을 덜 방해하면서 필요한 feedback을 얻는다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주 작업 성능 및 수행 시간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feedback 정확도 및 응답 시간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질문 개수, 질문 후 주 작업 복귀 시간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perceived workload, interruption burden, timing appropriateness, trust / usefulness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4451AC01-7F6C-01CE-5A2F-C7FB3969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9</a:t>
            </a:r>
          </a:p>
        </p:txBody>
      </p:sp>
    </p:spTree>
    <p:extLst>
      <p:ext uri="{BB962C8B-B14F-4D97-AF65-F5344CB8AC3E}">
        <ns3:creationId val="2518153809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E5B599CE-69BD-35E9-80F8-C3723737F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Hypotheses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7038677E-92C9-019A-2B43-D6FBF6CA7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H1. Ours는 All보다 주 작업 방해와 perceived workload를 줄인다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H2. Ours는 All보다 적은 질문으로 비슷한 feedback 품질을 유지한다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H3. Ours는 KnowNo보다 planning에 재사용 가능한 state/knowledge-level feedback을 더 효율적으로 얻는다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H4. 사용자는 Ours의 질문 타이밍을 더 적절하다고 인식한다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BCACD303-2DB2-0B22-5B4C-183B10B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10</a:t>
            </a:r>
          </a:p>
        </p:txBody>
      </p:sp>
    </p:spTree>
    <p:extLst>
      <p:ext uri="{BB962C8B-B14F-4D97-AF65-F5344CB8AC3E}">
        <ns3:creationId val="2515631532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교수님께 말할 요지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기존 실험은 N 부족보다 실험 과제가 시스템 취지와 맞지 않는 문제가 큼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N=30을 한다면 기존 설계 확장이 아니라 main task 중 system-initiated query 구조로 재설계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조건은 All / Ours / KnowNo로 줄이고, Ours 내부 차이는 ablation에서 검증</a:t>
            </a:r>
          </a:p>
          <a:p>
            <a:pPr>
              <a:buChar char="•"/>
            </a:pPr>
            <a:r>
              <a:rPr lang="ko-KR" sz="2050">
                <a:latin typeface="Aptos"/>
                <a:ea typeface="맑은 고딕"/>
              </a:rPr>
              <a:t>최종 논문은 시스템 + simulation/ablation + N=30 user study로 통합하는 방향이 가장 탄탄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11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왜 논문을 나누기 어려운가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시스템 논문만 먼저 내면 'human-facing system인데 human evidence가 약하다'는 약점이 남음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후속 N=30 논문은 독립적인 연구 질문 없이 단순 validation처럼 보일 수 있음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반대로 한 논문에 묶으면 algorithmic novelty와 HRI relevance가 서로 보강됨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Simulation/ablation은 mechanism을 설명하고, user study는 실제 사용 맥락의 burden과 효율을 설명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결론: N=30을 한다면 후속 논문이 아니라 현재 논문의 핵심 평가로 넣는 편이 자연스러움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12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새 실험 프로토콜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참가자는 주 작업을 수행하고, 로봇/시스템 질문은 태블릿 sub task로 중간에 등장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각 조건에서 동일한 도메인 난이도와 비슷한 총 task duration을 유지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질문이 들어오면 참가자는 잠시 feedback을 제공한 뒤 주 작업으로 복귀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로그: 질문 발생 시점, 응답 시작/종료, 정답 여부, 주 작업 중단/복귀 시점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설문: workload, interruption burden, resumption difficulty, timing appropriateness, trust/usefulness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13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조건 정의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All: 가능한 ambiguity마다 자주 묻는 high-query baseline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Ours: belief uncertainty와 observation-transition mismatch가 threshold를 넘을 때 state/knowledge 질문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KnowNo: 다음 action 후보가 불확실할 때 action selection 질문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비교 축 1: 질문 수와 feedback quality의 trade-off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비교 축 2: action-level 질문과 state/knowledge-level 질문의 장기적 planning 효과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비교 축 3: 주 작업 중 interruption burden과 질문 타이밍의 적절성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14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측정값과 분석 계획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Objective: main task score/time, feedback accuracy, response time, resumption time, number of queries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Subjective: NASA-TLX 또는 short workload scale, interruption burden, switching/resumption difficulty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System: task success, planning length, replanning count, final belief/knowledge correction accuracy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분석은 within-subject 조건 비교를 기본으로 하고, 순서 효과를 counterbalancing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핵심 결과는 '질문을 줄였는가'만이 아니라 '줄인 질문이 planning에 필요한 정보를 유지했는가'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15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관련 연구에서 가져올 근거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Banerjee et al.: interruptibility-aware robot behavior는 주 작업 성능보다 timing appropriateness와 robot task efficiency에서 효과가 날 수 있음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Dahiya et al.: interruption은 main task performance보다 perceived workload와 task switching difficulty에 더 민감하게 나타날 수 있음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KnowNo: action-level ask-for-help baseline으로 적합하지만, state/knowledge correction과는 질문 단위가 다름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따라서 우리 실험은 main task success만 보지 말고 interruption quality와 feedback utility를 함께 봐야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16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ns2:creationId id="{FEEFDFCC-7281-5D6F-F6DA-57D50744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ko-KR" sz="3000">
                <a:latin typeface="Aptos"/>
                <a:ea typeface="맑은 고딕"/>
              </a:rPr>
              <a:t>Backup: 논문 한 문장 정리</a:t>
            </a:r>
          </a:p>
        </p:txBody>
      </p:sp>
      <p:sp>
        <p:nvSpPr>
          <p:cNvPr id="3" name="내용 개체 틀 2">
            <a:extLst>
              <a:ext uri="{FF2B5EF4-FFF2-40B4-BE49-F238E27FC236}">
                <ns2:creationId id="{E18258D9-DBB8-F2F1-74AE-AADB5F3F6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이 논문은 POMDP 기반 task planning 과정에서 생기는 belief uncertainty와 observation-transition mismatch를 감시한다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시스템은 필요한 순간에만 사람에게 state/knowledge-level feedback을 요청한다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받은 feedback은 belief/knowledge update와 replanning으로 닫힌 고리를 만든다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평가는 simulation/ablation으로 trigger와 feedback model의 효과를 보이고, N=30 user study로 주 작업 중 방해와 효율을 검증한다</a:t>
            </a:r>
          </a:p>
          <a:p>
            <a:pPr>
              <a:buChar char="•"/>
            </a:pPr>
            <a:r>
              <a:rPr lang="ko-KR" sz="1950">
                <a:latin typeface="Aptos"/>
                <a:ea typeface="맑은 고딕"/>
              </a:rPr>
              <a:t>최종 claim: 적은 질문으로 planning에 필요한 feedback을 유지하면서 사용자의 주 작업 방해를 줄인다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ns2:creationId id="{D1F7A629-0D1D-C6E1-036F-A5CCF655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r>
              <a:rPr lang="ko-KR" sz="1200">
                <a:latin typeface="Aptos"/>
                <a:ea typeface="맑은 고딕"/>
              </a:rPr>
              <a:t>17</a:t>
            </a:r>
          </a:p>
        </p:txBody>
      </p:sp>
    </p:spTree>
    <p:extLst>
      <p:ext uri="{BB962C8B-B14F-4D97-AF65-F5344CB8AC3E}">
        <ns3:creationId val="682254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20076</TotalTime>
  <Words>114</Words>
  <Application>Microsoft Office PowerPoint</Application>
  <PresentationFormat>와이드스크린</PresentationFormat>
  <Paragraphs>46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BRL CF</vt:lpstr>
      <vt:lpstr>N=6</vt:lpstr>
      <vt:lpstr>데이터 결과</vt:lpstr>
      <vt:lpstr>앞으로의 방향성</vt:lpstr>
      <vt:lpstr>N=6의 문제점</vt:lpstr>
      <vt:lpstr>N=30</vt:lpstr>
      <vt:lpstr>N=30</vt:lpstr>
      <vt:lpstr>N=30</vt:lpstr>
      <vt:lpstr>시스템 기여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</dc:title>
  <dc:subject/>
  <dc:creator>AIRLAB</dc:creator>
  <cp:keywords/>
  <dc:description/>
  <cp:lastModifiedBy>박창민</cp:lastModifiedBy>
  <cp:revision>858</cp:revision>
  <cp:lastPrinted>2022-09-02T03:46:48Z</cp:lastPrinted>
  <dcterms:created xsi:type="dcterms:W3CDTF">2021-07-13T02:38:26Z</dcterms:created>
  <dcterms:modified xsi:type="dcterms:W3CDTF">2026-06-29T01:17:31Z</dcterms:modified>
  <cp:category/>
</cp:coreProperties>
</file>